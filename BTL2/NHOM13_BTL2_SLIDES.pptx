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charset="1" panose="00000500000000000000"/>
      <p:regular r:id="rId21"/>
    </p:embeddedFont>
    <p:embeddedFont>
      <p:font typeface="Montserrat Ultra-Bold" charset="1" panose="00000900000000000000"/>
      <p:regular r:id="rId22"/>
    </p:embeddedFont>
    <p:embeddedFont>
      <p:font typeface="Akzidenz-Grotesk Heavy" charset="1" panose="02000503050000020004"/>
      <p:regular r:id="rId23"/>
    </p:embeddedFont>
    <p:embeddedFont>
      <p:font typeface="Montserrat Medium" charset="1" panose="00000600000000000000"/>
      <p:regular r:id="rId24"/>
    </p:embeddedFont>
    <p:embeddedFont>
      <p:font typeface="Montserrat Semi-Bold" charset="1" panose="00000700000000000000"/>
      <p:regular r:id="rId25"/>
    </p:embeddedFont>
    <p:embeddedFont>
      <p:font typeface="Montserrat Bold" charset="1" panose="00000800000000000000"/>
      <p:regular r:id="rId26"/>
    </p:embeddedFont>
    <p:embeddedFont>
      <p:font typeface="Aileron Bold" charset="1" panose="00000800000000000000"/>
      <p:regular r:id="rId27"/>
    </p:embeddedFont>
    <p:embeddedFont>
      <p:font typeface="Aileron Heavy" charset="1" panose="00000A00000000000000"/>
      <p:regular r:id="rId28"/>
    </p:embeddedFont>
    <p:embeddedFont>
      <p:font typeface="Agrandir Narrow Heavy" charset="1" panose="00000A06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1.png" Type="http://schemas.openxmlformats.org/officeDocument/2006/relationships/image"/><Relationship Id="rId5" Target="https://www.mongodb.com/try/download/shell"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192814" y="-1349725"/>
            <a:ext cx="14862172" cy="12986450"/>
          </a:xfrm>
          <a:prstGeom prst="rect">
            <a:avLst/>
          </a:prstGeom>
          <a:solidFill>
            <a:srgbClr val="C8E5D7"/>
          </a:solidFill>
        </p:spPr>
      </p:sp>
      <p:grpSp>
        <p:nvGrpSpPr>
          <p:cNvPr name="Group 3" id="3"/>
          <p:cNvGrpSpPr/>
          <p:nvPr/>
        </p:nvGrpSpPr>
        <p:grpSpPr>
          <a:xfrm rot="0">
            <a:off x="9824386" y="2654578"/>
            <a:ext cx="8115300" cy="4977843"/>
            <a:chOff x="0" y="0"/>
            <a:chExt cx="10820400" cy="6637125"/>
          </a:xfrm>
        </p:grpSpPr>
        <p:pic>
          <p:nvPicPr>
            <p:cNvPr name="Picture 4" id="4"/>
            <p:cNvPicPr>
              <a:picLocks noChangeAspect="true"/>
            </p:cNvPicPr>
            <p:nvPr/>
          </p:nvPicPr>
          <p:blipFill>
            <a:blip r:embed="rId2"/>
            <a:srcRect l="4148" t="0" r="4148" b="0"/>
            <a:stretch>
              <a:fillRect/>
            </a:stretch>
          </p:blipFill>
          <p:spPr>
            <a:xfrm flipH="false" flipV="false">
              <a:off x="0" y="0"/>
              <a:ext cx="10820400" cy="6637125"/>
            </a:xfrm>
            <a:prstGeom prst="rect">
              <a:avLst/>
            </a:prstGeom>
          </p:spPr>
        </p:pic>
      </p:grpSp>
      <p:sp>
        <p:nvSpPr>
          <p:cNvPr name="AutoShape 5" id="5"/>
          <p:cNvSpPr/>
          <p:nvPr/>
        </p:nvSpPr>
        <p:spPr>
          <a:xfrm rot="0">
            <a:off x="1408867" y="9258300"/>
            <a:ext cx="7971213" cy="0"/>
          </a:xfrm>
          <a:prstGeom prst="line">
            <a:avLst/>
          </a:prstGeom>
          <a:ln cap="rnd" w="19050">
            <a:solidFill>
              <a:srgbClr val="4C647A"/>
            </a:solidFill>
            <a:prstDash val="solid"/>
            <a:headEnd type="none" len="sm" w="sm"/>
            <a:tailEnd type="none" len="sm" w="sm"/>
          </a:ln>
        </p:spPr>
      </p:sp>
      <p:grpSp>
        <p:nvGrpSpPr>
          <p:cNvPr name="Group 6" id="6"/>
          <p:cNvGrpSpPr/>
          <p:nvPr/>
        </p:nvGrpSpPr>
        <p:grpSpPr>
          <a:xfrm rot="0">
            <a:off x="-2797286" y="-2814473"/>
            <a:ext cx="5246370" cy="5246370"/>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D9DFCE">
                <a:alpha val="29804"/>
              </a:srgbClr>
            </a:solidFill>
          </p:spPr>
        </p:sp>
      </p:grpSp>
      <p:sp>
        <p:nvSpPr>
          <p:cNvPr name="Freeform 8" id="8"/>
          <p:cNvSpPr/>
          <p:nvPr/>
        </p:nvSpPr>
        <p:spPr>
          <a:xfrm flipH="false" flipV="false" rot="0">
            <a:off x="1408867" y="9114010"/>
            <a:ext cx="1326457" cy="331614"/>
          </a:xfrm>
          <a:custGeom>
            <a:avLst/>
            <a:gdLst/>
            <a:ahLst/>
            <a:cxnLst/>
            <a:rect r="r" b="b" t="t" l="l"/>
            <a:pathLst>
              <a:path h="331614" w="1326457">
                <a:moveTo>
                  <a:pt x="0" y="0"/>
                </a:moveTo>
                <a:lnTo>
                  <a:pt x="1326457" y="0"/>
                </a:lnTo>
                <a:lnTo>
                  <a:pt x="1326457" y="331615"/>
                </a:lnTo>
                <a:lnTo>
                  <a:pt x="0" y="3316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08867" y="5867980"/>
            <a:ext cx="6648598" cy="1828165"/>
          </a:xfrm>
          <a:prstGeom prst="rect">
            <a:avLst/>
          </a:prstGeom>
        </p:spPr>
        <p:txBody>
          <a:bodyPr anchor="t" rtlCol="false" tIns="0" lIns="0" bIns="0" rIns="0">
            <a:spAutoFit/>
          </a:bodyPr>
          <a:lstStyle/>
          <a:p>
            <a:pPr algn="l">
              <a:lnSpc>
                <a:spcPts val="3640"/>
              </a:lnSpc>
            </a:pPr>
            <a:r>
              <a:rPr lang="en-US" sz="2600">
                <a:solidFill>
                  <a:srgbClr val="000000"/>
                </a:solidFill>
                <a:latin typeface="Montserrat"/>
                <a:ea typeface="Montserrat"/>
                <a:cs typeface="Montserrat"/>
                <a:sym typeface="Montserrat"/>
              </a:rPr>
              <a:t>Nguyễn Thị Hải Hà – 22520372</a:t>
            </a:r>
          </a:p>
          <a:p>
            <a:pPr algn="l">
              <a:lnSpc>
                <a:spcPts val="3640"/>
              </a:lnSpc>
            </a:pPr>
            <a:r>
              <a:rPr lang="en-US" sz="2600">
                <a:solidFill>
                  <a:srgbClr val="000000"/>
                </a:solidFill>
                <a:latin typeface="Montserrat"/>
                <a:ea typeface="Montserrat"/>
                <a:cs typeface="Montserrat"/>
                <a:sym typeface="Montserrat"/>
              </a:rPr>
              <a:t>Nguyễn Thị Thanh Hiếu – 22520443</a:t>
            </a:r>
          </a:p>
          <a:p>
            <a:pPr algn="l">
              <a:lnSpc>
                <a:spcPts val="3640"/>
              </a:lnSpc>
            </a:pPr>
            <a:r>
              <a:rPr lang="en-US" sz="2600">
                <a:solidFill>
                  <a:srgbClr val="000000"/>
                </a:solidFill>
                <a:latin typeface="Montserrat"/>
                <a:ea typeface="Montserrat"/>
                <a:cs typeface="Montserrat"/>
                <a:sym typeface="Montserrat"/>
              </a:rPr>
              <a:t>Nguyễn Hồng Nhật Long - 22520816</a:t>
            </a:r>
          </a:p>
          <a:p>
            <a:pPr algn="l">
              <a:lnSpc>
                <a:spcPts val="3780"/>
              </a:lnSpc>
            </a:pPr>
            <a:r>
              <a:rPr lang="en-US" sz="2700">
                <a:solidFill>
                  <a:srgbClr val="000000"/>
                </a:solidFill>
                <a:latin typeface="Montserrat"/>
                <a:ea typeface="Montserrat"/>
                <a:cs typeface="Montserrat"/>
                <a:sym typeface="Montserrat"/>
              </a:rPr>
              <a:t>Phạm Đức Mạnh - 22520852</a:t>
            </a:r>
          </a:p>
        </p:txBody>
      </p:sp>
      <p:sp>
        <p:nvSpPr>
          <p:cNvPr name="TextBox 10" id="10"/>
          <p:cNvSpPr txBox="true"/>
          <p:nvPr/>
        </p:nvSpPr>
        <p:spPr>
          <a:xfrm rot="0">
            <a:off x="1028700" y="2657330"/>
            <a:ext cx="7865158" cy="1219835"/>
          </a:xfrm>
          <a:prstGeom prst="rect">
            <a:avLst/>
          </a:prstGeom>
        </p:spPr>
        <p:txBody>
          <a:bodyPr anchor="t" rtlCol="false" tIns="0" lIns="0" bIns="0" rIns="0">
            <a:spAutoFit/>
          </a:bodyPr>
          <a:lstStyle/>
          <a:p>
            <a:pPr algn="l">
              <a:lnSpc>
                <a:spcPts val="9940"/>
              </a:lnSpc>
            </a:pPr>
            <a:r>
              <a:rPr lang="en-US" sz="7100">
                <a:solidFill>
                  <a:srgbClr val="000000"/>
                </a:solidFill>
                <a:latin typeface="Montserrat"/>
                <a:ea typeface="Montserrat"/>
                <a:cs typeface="Montserrat"/>
                <a:sym typeface="Montserrat"/>
              </a:rPr>
              <a:t>NOSQL</a:t>
            </a:r>
          </a:p>
        </p:txBody>
      </p:sp>
      <p:sp>
        <p:nvSpPr>
          <p:cNvPr name="TextBox 11" id="11"/>
          <p:cNvSpPr txBox="true"/>
          <p:nvPr/>
        </p:nvSpPr>
        <p:spPr>
          <a:xfrm rot="0">
            <a:off x="1028700" y="3667615"/>
            <a:ext cx="8795686" cy="1874152"/>
          </a:xfrm>
          <a:prstGeom prst="rect">
            <a:avLst/>
          </a:prstGeom>
        </p:spPr>
        <p:txBody>
          <a:bodyPr anchor="t" rtlCol="false" tIns="0" lIns="0" bIns="0" rIns="0">
            <a:spAutoFit/>
          </a:bodyPr>
          <a:lstStyle/>
          <a:p>
            <a:pPr algn="l">
              <a:lnSpc>
                <a:spcPts val="15350"/>
              </a:lnSpc>
            </a:pPr>
            <a:r>
              <a:rPr lang="en-US" sz="10964" b="true">
                <a:solidFill>
                  <a:srgbClr val="5BA582"/>
                </a:solidFill>
                <a:latin typeface="Montserrat Ultra-Bold"/>
                <a:ea typeface="Montserrat Ultra-Bold"/>
                <a:cs typeface="Montserrat Ultra-Bold"/>
                <a:sym typeface="Montserrat Ultra-Bold"/>
              </a:rPr>
              <a:t>MONGODB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5400000">
            <a:off x="2593130" y="3880972"/>
            <a:ext cx="3522035" cy="7232621"/>
          </a:xfrm>
          <a:custGeom>
            <a:avLst/>
            <a:gdLst/>
            <a:ahLst/>
            <a:cxnLst/>
            <a:rect r="r" b="b" t="t" l="l"/>
            <a:pathLst>
              <a:path h="7232621" w="3522035">
                <a:moveTo>
                  <a:pt x="0" y="0"/>
                </a:moveTo>
                <a:lnTo>
                  <a:pt x="3522034" y="0"/>
                </a:lnTo>
                <a:lnTo>
                  <a:pt x="3522034" y="7232621"/>
                </a:lnTo>
                <a:lnTo>
                  <a:pt x="0" y="7232621"/>
                </a:lnTo>
                <a:lnTo>
                  <a:pt x="0" y="0"/>
                </a:lnTo>
                <a:close/>
              </a:path>
            </a:pathLst>
          </a:custGeom>
          <a:blipFill>
            <a:blip r:embed="rId2">
              <a:alphaModFix amt="64000"/>
            </a:blip>
            <a:stretch>
              <a:fillRect l="-1702" t="0" r="0" b="0"/>
            </a:stretch>
          </a:blipFill>
        </p:spPr>
      </p:sp>
      <p:grpSp>
        <p:nvGrpSpPr>
          <p:cNvPr name="Group 6" id="6"/>
          <p:cNvGrpSpPr/>
          <p:nvPr/>
        </p:nvGrpSpPr>
        <p:grpSpPr>
          <a:xfrm rot="0">
            <a:off x="0" y="0"/>
            <a:ext cx="18288000" cy="3926821"/>
            <a:chOff x="0" y="0"/>
            <a:chExt cx="4816593" cy="1034225"/>
          </a:xfrm>
        </p:grpSpPr>
        <p:sp>
          <p:nvSpPr>
            <p:cNvPr name="Freeform 7" id="7"/>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8" id="8"/>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1113742" y="1674902"/>
            <a:ext cx="6480811" cy="5676576"/>
            <a:chOff x="0" y="0"/>
            <a:chExt cx="1309957" cy="1147398"/>
          </a:xfrm>
        </p:grpSpPr>
        <p:sp>
          <p:nvSpPr>
            <p:cNvPr name="Freeform 10" id="10"/>
            <p:cNvSpPr/>
            <p:nvPr/>
          </p:nvSpPr>
          <p:spPr>
            <a:xfrm flipH="false" flipV="false" rot="0">
              <a:off x="0" y="0"/>
              <a:ext cx="1309957" cy="1147398"/>
            </a:xfrm>
            <a:custGeom>
              <a:avLst/>
              <a:gdLst/>
              <a:ahLst/>
              <a:cxnLst/>
              <a:rect r="r" b="b" t="t" l="l"/>
              <a:pathLst>
                <a:path h="1147398" w="1309957">
                  <a:moveTo>
                    <a:pt x="0" y="0"/>
                  </a:moveTo>
                  <a:lnTo>
                    <a:pt x="1309957" y="0"/>
                  </a:lnTo>
                  <a:lnTo>
                    <a:pt x="1309957" y="1147398"/>
                  </a:lnTo>
                  <a:lnTo>
                    <a:pt x="0" y="1147398"/>
                  </a:lnTo>
                  <a:close/>
                </a:path>
              </a:pathLst>
            </a:custGeom>
            <a:blipFill>
              <a:blip r:embed="rId3"/>
              <a:stretch>
                <a:fillRect l="-33618" t="0" r="-33618" b="0"/>
              </a:stretch>
            </a:blipFill>
          </p:spPr>
        </p:sp>
      </p:grpSp>
      <p:sp>
        <p:nvSpPr>
          <p:cNvPr name="Freeform 11" id="11"/>
          <p:cNvSpPr/>
          <p:nvPr/>
        </p:nvSpPr>
        <p:spPr>
          <a:xfrm flipH="false" flipV="false" rot="0">
            <a:off x="8654754" y="2650538"/>
            <a:ext cx="2158989" cy="321886"/>
          </a:xfrm>
          <a:custGeom>
            <a:avLst/>
            <a:gdLst/>
            <a:ahLst/>
            <a:cxnLst/>
            <a:rect r="r" b="b" t="t" l="l"/>
            <a:pathLst>
              <a:path h="321886" w="2158989">
                <a:moveTo>
                  <a:pt x="0" y="0"/>
                </a:moveTo>
                <a:lnTo>
                  <a:pt x="2158989" y="0"/>
                </a:lnTo>
                <a:lnTo>
                  <a:pt x="2158989" y="321886"/>
                </a:lnTo>
                <a:lnTo>
                  <a:pt x="0" y="321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8654754" y="4662480"/>
            <a:ext cx="7724452" cy="1090295"/>
          </a:xfrm>
          <a:prstGeom prst="rect">
            <a:avLst/>
          </a:prstGeom>
        </p:spPr>
        <p:txBody>
          <a:bodyPr anchor="t" rtlCol="false" tIns="0" lIns="0" bIns="0" rIns="0">
            <a:spAutoFit/>
          </a:bodyPr>
          <a:lstStyle/>
          <a:p>
            <a:pPr algn="l" marL="0" indent="0" lvl="0">
              <a:lnSpc>
                <a:spcPts val="7540"/>
              </a:lnSpc>
              <a:spcBef>
                <a:spcPct val="0"/>
              </a:spcBef>
            </a:pPr>
            <a:r>
              <a:rPr lang="en-US" b="true" sz="6500">
                <a:solidFill>
                  <a:srgbClr val="269D87"/>
                </a:solidFill>
                <a:latin typeface="Akzidenz-Grotesk Heavy"/>
                <a:ea typeface="Akzidenz-Grotesk Heavy"/>
                <a:cs typeface="Akzidenz-Grotesk Heavy"/>
                <a:sym typeface="Akzidenz-Grotesk Heavy"/>
              </a:rPr>
              <a:t>NoSQL là gì?</a:t>
            </a:r>
          </a:p>
        </p:txBody>
      </p:sp>
      <p:sp>
        <p:nvSpPr>
          <p:cNvPr name="TextBox 13" id="13"/>
          <p:cNvSpPr txBox="true"/>
          <p:nvPr/>
        </p:nvSpPr>
        <p:spPr>
          <a:xfrm rot="0">
            <a:off x="8654754" y="6171637"/>
            <a:ext cx="8604546" cy="1736723"/>
          </a:xfrm>
          <a:prstGeom prst="rect">
            <a:avLst/>
          </a:prstGeom>
        </p:spPr>
        <p:txBody>
          <a:bodyPr anchor="t" rtlCol="false" tIns="0" lIns="0" bIns="0" rIns="0">
            <a:spAutoFit/>
          </a:bodyPr>
          <a:lstStyle/>
          <a:p>
            <a:pPr algn="just" marL="0" indent="0" lvl="0">
              <a:lnSpc>
                <a:spcPts val="3500"/>
              </a:lnSpc>
              <a:spcBef>
                <a:spcPct val="0"/>
              </a:spcBef>
            </a:pPr>
            <a:r>
              <a:rPr lang="en-US" b="true" sz="2500">
                <a:solidFill>
                  <a:srgbClr val="322A2A"/>
                </a:solidFill>
                <a:latin typeface="Montserrat Medium"/>
                <a:ea typeface="Montserrat Medium"/>
                <a:cs typeface="Montserrat Medium"/>
                <a:sym typeface="Montserrat Medium"/>
              </a:rPr>
              <a:t>N</a:t>
            </a:r>
            <a:r>
              <a:rPr lang="en-US" b="true" sz="2500" strike="noStrike" u="none">
                <a:solidFill>
                  <a:srgbClr val="322A2A"/>
                </a:solidFill>
                <a:latin typeface="Montserrat Medium"/>
                <a:ea typeface="Montserrat Medium"/>
                <a:cs typeface="Montserrat Medium"/>
                <a:sym typeface="Montserrat Medium"/>
              </a:rPr>
              <a:t>oSQL (viết tắt của “Not Only SQL” – không chỉ là SQL) là một nhóm các hệ quản trị cơ sở dữ liệu phi quan hệ, lưu trữ và truy xuất dữ liệu theo cách khác biệt so với cơ sở dữ liệu quan hệ (RDBMS).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9499973"/>
            <a:ext cx="18288000" cy="3705225"/>
            <a:chOff x="0" y="0"/>
            <a:chExt cx="4816593" cy="975862"/>
          </a:xfrm>
        </p:grpSpPr>
        <p:sp>
          <p:nvSpPr>
            <p:cNvPr name="Freeform 3" id="3"/>
            <p:cNvSpPr/>
            <p:nvPr/>
          </p:nvSpPr>
          <p:spPr>
            <a:xfrm flipH="false" flipV="false" rot="0">
              <a:off x="0" y="0"/>
              <a:ext cx="4816592" cy="975862"/>
            </a:xfrm>
            <a:custGeom>
              <a:avLst/>
              <a:gdLst/>
              <a:ahLst/>
              <a:cxnLst/>
              <a:rect r="r" b="b" t="t" l="l"/>
              <a:pathLst>
                <a:path h="975862" w="4816592">
                  <a:moveTo>
                    <a:pt x="0" y="0"/>
                  </a:moveTo>
                  <a:lnTo>
                    <a:pt x="4816592" y="0"/>
                  </a:lnTo>
                  <a:lnTo>
                    <a:pt x="4816592" y="975862"/>
                  </a:lnTo>
                  <a:lnTo>
                    <a:pt x="0" y="975862"/>
                  </a:lnTo>
                  <a:close/>
                </a:path>
              </a:pathLst>
            </a:custGeom>
            <a:solidFill>
              <a:srgbClr val="D9DFCE"/>
            </a:solidFill>
          </p:spPr>
        </p:sp>
        <p:sp>
          <p:nvSpPr>
            <p:cNvPr name="TextBox 4" id="4"/>
            <p:cNvSpPr txBox="true"/>
            <p:nvPr/>
          </p:nvSpPr>
          <p:spPr>
            <a:xfrm>
              <a:off x="0" y="-57150"/>
              <a:ext cx="4816593" cy="1033012"/>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true" rot="-5400000">
            <a:off x="1986274" y="5437255"/>
            <a:ext cx="2239854" cy="4599618"/>
          </a:xfrm>
          <a:custGeom>
            <a:avLst/>
            <a:gdLst/>
            <a:ahLst/>
            <a:cxnLst/>
            <a:rect r="r" b="b" t="t" l="l"/>
            <a:pathLst>
              <a:path h="4599618" w="2239854">
                <a:moveTo>
                  <a:pt x="0" y="4599618"/>
                </a:moveTo>
                <a:lnTo>
                  <a:pt x="2239853" y="4599618"/>
                </a:lnTo>
                <a:lnTo>
                  <a:pt x="2239853" y="0"/>
                </a:lnTo>
                <a:lnTo>
                  <a:pt x="0" y="0"/>
                </a:lnTo>
                <a:lnTo>
                  <a:pt x="0" y="4599618"/>
                </a:lnTo>
                <a:close/>
              </a:path>
            </a:pathLst>
          </a:custGeom>
          <a:blipFill>
            <a:blip r:embed="rId2">
              <a:alphaModFix amt="64000"/>
            </a:blip>
            <a:stretch>
              <a:fillRect l="-1702" t="0" r="0" b="0"/>
            </a:stretch>
          </a:blipFill>
        </p:spPr>
      </p:sp>
      <p:grpSp>
        <p:nvGrpSpPr>
          <p:cNvPr name="Group 6" id="6"/>
          <p:cNvGrpSpPr/>
          <p:nvPr/>
        </p:nvGrpSpPr>
        <p:grpSpPr>
          <a:xfrm rot="0">
            <a:off x="1028700" y="0"/>
            <a:ext cx="4212283" cy="8248940"/>
            <a:chOff x="0" y="0"/>
            <a:chExt cx="652593" cy="1277977"/>
          </a:xfrm>
        </p:grpSpPr>
        <p:sp>
          <p:nvSpPr>
            <p:cNvPr name="Freeform 7" id="7"/>
            <p:cNvSpPr/>
            <p:nvPr/>
          </p:nvSpPr>
          <p:spPr>
            <a:xfrm flipH="false" flipV="false" rot="0">
              <a:off x="0" y="0"/>
              <a:ext cx="652593" cy="1277977"/>
            </a:xfrm>
            <a:custGeom>
              <a:avLst/>
              <a:gdLst/>
              <a:ahLst/>
              <a:cxnLst/>
              <a:rect r="r" b="b" t="t" l="l"/>
              <a:pathLst>
                <a:path h="1277977" w="652593">
                  <a:moveTo>
                    <a:pt x="0" y="0"/>
                  </a:moveTo>
                  <a:lnTo>
                    <a:pt x="652593" y="0"/>
                  </a:lnTo>
                  <a:lnTo>
                    <a:pt x="652593" y="1277977"/>
                  </a:lnTo>
                  <a:lnTo>
                    <a:pt x="0" y="1277977"/>
                  </a:lnTo>
                  <a:close/>
                </a:path>
              </a:pathLst>
            </a:custGeom>
            <a:blipFill>
              <a:blip r:embed="rId3"/>
              <a:stretch>
                <a:fillRect l="-197016" t="0" r="-59850" b="0"/>
              </a:stretch>
            </a:blipFill>
          </p:spPr>
        </p:sp>
      </p:grpSp>
      <p:grpSp>
        <p:nvGrpSpPr>
          <p:cNvPr name="Group 8" id="8"/>
          <p:cNvGrpSpPr/>
          <p:nvPr/>
        </p:nvGrpSpPr>
        <p:grpSpPr>
          <a:xfrm rot="0">
            <a:off x="13948384" y="-2795743"/>
            <a:ext cx="6768900" cy="67689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F8F3"/>
            </a:solidFill>
            <a:ln cap="sq">
              <a:no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11" id="11"/>
          <p:cNvGrpSpPr/>
          <p:nvPr/>
        </p:nvGrpSpPr>
        <p:grpSpPr>
          <a:xfrm rot="0">
            <a:off x="6400660" y="5824116"/>
            <a:ext cx="728840" cy="728840"/>
            <a:chOff x="0" y="0"/>
            <a:chExt cx="971786" cy="971786"/>
          </a:xfrm>
        </p:grpSpPr>
        <p:grpSp>
          <p:nvGrpSpPr>
            <p:cNvPr name="Group 12" id="12"/>
            <p:cNvGrpSpPr/>
            <p:nvPr/>
          </p:nvGrpSpPr>
          <p:grpSpPr>
            <a:xfrm rot="0">
              <a:off x="0" y="0"/>
              <a:ext cx="971786" cy="97178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9D87"/>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15" id="15"/>
            <p:cNvSpPr txBox="true"/>
            <p:nvPr/>
          </p:nvSpPr>
          <p:spPr>
            <a:xfrm rot="0">
              <a:off x="338773" y="165547"/>
              <a:ext cx="593140" cy="699982"/>
            </a:xfrm>
            <a:prstGeom prst="rect">
              <a:avLst/>
            </a:prstGeom>
          </p:spPr>
          <p:txBody>
            <a:bodyPr anchor="t" rtlCol="false" tIns="0" lIns="0" bIns="0" rIns="0">
              <a:spAutoFit/>
            </a:bodyPr>
            <a:lstStyle/>
            <a:p>
              <a:pPr algn="l" marL="0" indent="0" lvl="0">
                <a:lnSpc>
                  <a:spcPts val="4060"/>
                </a:lnSpc>
                <a:spcBef>
                  <a:spcPct val="0"/>
                </a:spcBef>
              </a:pPr>
              <a:r>
                <a:rPr lang="en-US" b="true" sz="3500">
                  <a:solidFill>
                    <a:srgbClr val="F5F8EE"/>
                  </a:solidFill>
                  <a:latin typeface="Montserrat Ultra-Bold"/>
                  <a:ea typeface="Montserrat Ultra-Bold"/>
                  <a:cs typeface="Montserrat Ultra-Bold"/>
                  <a:sym typeface="Montserrat Ultra-Bold"/>
                </a:rPr>
                <a:t>1</a:t>
              </a:r>
            </a:p>
          </p:txBody>
        </p:sp>
      </p:grpSp>
      <p:grpSp>
        <p:nvGrpSpPr>
          <p:cNvPr name="Group 16" id="16"/>
          <p:cNvGrpSpPr/>
          <p:nvPr/>
        </p:nvGrpSpPr>
        <p:grpSpPr>
          <a:xfrm rot="0">
            <a:off x="11544008" y="5782236"/>
            <a:ext cx="728840" cy="72884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9D87"/>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grpSp>
        <p:nvGrpSpPr>
          <p:cNvPr name="Group 19" id="19"/>
          <p:cNvGrpSpPr/>
          <p:nvPr/>
        </p:nvGrpSpPr>
        <p:grpSpPr>
          <a:xfrm rot="0">
            <a:off x="6400660" y="7265519"/>
            <a:ext cx="728840" cy="72884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9D87"/>
            </a:solidFill>
          </p:spPr>
        </p:sp>
        <p:sp>
          <p:nvSpPr>
            <p:cNvPr name="TextBox 21" id="21"/>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grpSp>
        <p:nvGrpSpPr>
          <p:cNvPr name="Group 22" id="22"/>
          <p:cNvGrpSpPr/>
          <p:nvPr/>
        </p:nvGrpSpPr>
        <p:grpSpPr>
          <a:xfrm rot="0">
            <a:off x="11544008" y="7265519"/>
            <a:ext cx="728840" cy="72884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9D87"/>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25" id="25"/>
          <p:cNvSpPr/>
          <p:nvPr/>
        </p:nvSpPr>
        <p:spPr>
          <a:xfrm flipH="false" flipV="false" rot="0">
            <a:off x="16922949" y="190670"/>
            <a:ext cx="1113967" cy="1113967"/>
          </a:xfrm>
          <a:custGeom>
            <a:avLst/>
            <a:gdLst/>
            <a:ahLst/>
            <a:cxnLst/>
            <a:rect r="r" b="b" t="t" l="l"/>
            <a:pathLst>
              <a:path h="1113967" w="1113967">
                <a:moveTo>
                  <a:pt x="0" y="0"/>
                </a:moveTo>
                <a:lnTo>
                  <a:pt x="1113967" y="0"/>
                </a:lnTo>
                <a:lnTo>
                  <a:pt x="1113967" y="1113967"/>
                </a:lnTo>
                <a:lnTo>
                  <a:pt x="0" y="1113967"/>
                </a:lnTo>
                <a:lnTo>
                  <a:pt x="0" y="0"/>
                </a:lnTo>
                <a:close/>
              </a:path>
            </a:pathLst>
          </a:custGeom>
          <a:blipFill>
            <a:blip r:embed="rId4"/>
            <a:stretch>
              <a:fillRect l="0" t="0" r="0" b="0"/>
            </a:stretch>
          </a:blipFill>
        </p:spPr>
      </p:sp>
      <p:sp>
        <p:nvSpPr>
          <p:cNvPr name="TextBox 26" id="26"/>
          <p:cNvSpPr txBox="true"/>
          <p:nvPr/>
        </p:nvSpPr>
        <p:spPr>
          <a:xfrm rot="0">
            <a:off x="6400660" y="1139893"/>
            <a:ext cx="7547724" cy="2345690"/>
          </a:xfrm>
          <a:prstGeom prst="rect">
            <a:avLst/>
          </a:prstGeom>
        </p:spPr>
        <p:txBody>
          <a:bodyPr anchor="t" rtlCol="false" tIns="0" lIns="0" bIns="0" rIns="0">
            <a:spAutoFit/>
          </a:bodyPr>
          <a:lstStyle/>
          <a:p>
            <a:pPr algn="l" marL="0" indent="0" lvl="0">
              <a:lnSpc>
                <a:spcPts val="9280"/>
              </a:lnSpc>
              <a:spcBef>
                <a:spcPct val="0"/>
              </a:spcBef>
            </a:pPr>
            <a:r>
              <a:rPr lang="en-US" b="true" sz="8000">
                <a:solidFill>
                  <a:srgbClr val="235C51"/>
                </a:solidFill>
                <a:latin typeface="Montserrat Ultra-Bold"/>
                <a:ea typeface="Montserrat Ultra-Bold"/>
                <a:cs typeface="Montserrat Ultra-Bold"/>
                <a:sym typeface="Montserrat Ultra-Bold"/>
              </a:rPr>
              <a:t>CÁC LOẠI NOSQL</a:t>
            </a:r>
          </a:p>
        </p:txBody>
      </p:sp>
      <p:sp>
        <p:nvSpPr>
          <p:cNvPr name="TextBox 27" id="27"/>
          <p:cNvSpPr txBox="true"/>
          <p:nvPr/>
        </p:nvSpPr>
        <p:spPr>
          <a:xfrm rot="0">
            <a:off x="6400660" y="4126158"/>
            <a:ext cx="9527665" cy="789303"/>
          </a:xfrm>
          <a:prstGeom prst="rect">
            <a:avLst/>
          </a:prstGeom>
        </p:spPr>
        <p:txBody>
          <a:bodyPr anchor="t" rtlCol="false" tIns="0" lIns="0" bIns="0" rIns="0">
            <a:spAutoFit/>
          </a:bodyPr>
          <a:lstStyle/>
          <a:p>
            <a:pPr algn="just">
              <a:lnSpc>
                <a:spcPts val="3220"/>
              </a:lnSpc>
            </a:pPr>
            <a:r>
              <a:rPr lang="en-US" sz="2300" b="true">
                <a:solidFill>
                  <a:srgbClr val="322A2A"/>
                </a:solidFill>
                <a:latin typeface="Montserrat Semi-Bold"/>
                <a:ea typeface="Montserrat Semi-Bold"/>
                <a:cs typeface="Montserrat Semi-Bold"/>
                <a:sym typeface="Montserrat Semi-Bold"/>
              </a:rPr>
              <a:t>NoSQL không có một kiến trúc duy nhất. Dựa trên cách tổ chức dữ liệu, </a:t>
            </a:r>
            <a:r>
              <a:rPr lang="en-US" sz="2300" b="true">
                <a:solidFill>
                  <a:srgbClr val="FF914D"/>
                </a:solidFill>
                <a:latin typeface="Montserrat Bold"/>
                <a:ea typeface="Montserrat Bold"/>
                <a:cs typeface="Montserrat Bold"/>
                <a:sym typeface="Montserrat Bold"/>
              </a:rPr>
              <a:t>NoSQL được chia làm 4 loại chính</a:t>
            </a:r>
          </a:p>
        </p:txBody>
      </p:sp>
      <p:sp>
        <p:nvSpPr>
          <p:cNvPr name="TextBox 28" id="28"/>
          <p:cNvSpPr txBox="true"/>
          <p:nvPr/>
        </p:nvSpPr>
        <p:spPr>
          <a:xfrm rot="0">
            <a:off x="7372466" y="5966283"/>
            <a:ext cx="3923891" cy="431798"/>
          </a:xfrm>
          <a:prstGeom prst="rect">
            <a:avLst/>
          </a:prstGeom>
        </p:spPr>
        <p:txBody>
          <a:bodyPr anchor="t" rtlCol="false" tIns="0" lIns="0" bIns="0" rIns="0">
            <a:spAutoFit/>
          </a:bodyPr>
          <a:lstStyle/>
          <a:p>
            <a:pPr algn="just">
              <a:lnSpc>
                <a:spcPts val="3500"/>
              </a:lnSpc>
            </a:pPr>
            <a:r>
              <a:rPr lang="en-US" sz="2500" b="true">
                <a:solidFill>
                  <a:srgbClr val="000000"/>
                </a:solidFill>
                <a:latin typeface="Aileron Bold"/>
                <a:ea typeface="Aileron Bold"/>
                <a:cs typeface="Aileron Bold"/>
                <a:sym typeface="Aileron Bold"/>
              </a:rPr>
              <a:t>D</a:t>
            </a:r>
            <a:r>
              <a:rPr lang="en-US" sz="2500" b="true">
                <a:solidFill>
                  <a:srgbClr val="000000"/>
                </a:solidFill>
                <a:latin typeface="Aileron Bold"/>
                <a:ea typeface="Aileron Bold"/>
                <a:cs typeface="Aileron Bold"/>
                <a:sym typeface="Aileron Bold"/>
              </a:rPr>
              <a:t>ocument-Based </a:t>
            </a:r>
          </a:p>
        </p:txBody>
      </p:sp>
      <p:sp>
        <p:nvSpPr>
          <p:cNvPr name="TextBox 29" id="29"/>
          <p:cNvSpPr txBox="true"/>
          <p:nvPr/>
        </p:nvSpPr>
        <p:spPr>
          <a:xfrm rot="0">
            <a:off x="7372466" y="7385465"/>
            <a:ext cx="3976287" cy="431798"/>
          </a:xfrm>
          <a:prstGeom prst="rect">
            <a:avLst/>
          </a:prstGeom>
        </p:spPr>
        <p:txBody>
          <a:bodyPr anchor="t" rtlCol="false" tIns="0" lIns="0" bIns="0" rIns="0">
            <a:spAutoFit/>
          </a:bodyPr>
          <a:lstStyle/>
          <a:p>
            <a:pPr algn="just" marL="0" indent="0" lvl="0">
              <a:lnSpc>
                <a:spcPts val="3500"/>
              </a:lnSpc>
              <a:spcBef>
                <a:spcPct val="0"/>
              </a:spcBef>
            </a:pPr>
            <a:r>
              <a:rPr lang="en-US" b="true" sz="2500">
                <a:solidFill>
                  <a:srgbClr val="000000"/>
                </a:solidFill>
                <a:latin typeface="Aileron Bold"/>
                <a:ea typeface="Aileron Bold"/>
                <a:cs typeface="Aileron Bold"/>
                <a:sym typeface="Aileron Bold"/>
              </a:rPr>
              <a:t>C</a:t>
            </a:r>
            <a:r>
              <a:rPr lang="en-US" b="true" sz="2500" strike="noStrike" u="none">
                <a:solidFill>
                  <a:srgbClr val="000000"/>
                </a:solidFill>
                <a:latin typeface="Aileron Bold"/>
                <a:ea typeface="Aileron Bold"/>
                <a:cs typeface="Aileron Bold"/>
                <a:sym typeface="Aileron Bold"/>
              </a:rPr>
              <a:t>olumn-Family </a:t>
            </a:r>
          </a:p>
        </p:txBody>
      </p:sp>
      <p:sp>
        <p:nvSpPr>
          <p:cNvPr name="TextBox 30" id="30"/>
          <p:cNvSpPr txBox="true"/>
          <p:nvPr/>
        </p:nvSpPr>
        <p:spPr>
          <a:xfrm rot="0">
            <a:off x="12785479" y="5902182"/>
            <a:ext cx="3379713" cy="869948"/>
          </a:xfrm>
          <a:prstGeom prst="rect">
            <a:avLst/>
          </a:prstGeom>
        </p:spPr>
        <p:txBody>
          <a:bodyPr anchor="t" rtlCol="false" tIns="0" lIns="0" bIns="0" rIns="0">
            <a:spAutoFit/>
          </a:bodyPr>
          <a:lstStyle/>
          <a:p>
            <a:pPr algn="just">
              <a:lnSpc>
                <a:spcPts val="3500"/>
              </a:lnSpc>
            </a:pPr>
            <a:r>
              <a:rPr lang="en-US" sz="2500" b="true">
                <a:solidFill>
                  <a:srgbClr val="000000"/>
                </a:solidFill>
                <a:latin typeface="Aileron Bold"/>
                <a:ea typeface="Aileron Bold"/>
                <a:cs typeface="Aileron Bold"/>
                <a:sym typeface="Aileron Bold"/>
              </a:rPr>
              <a:t>K</a:t>
            </a:r>
            <a:r>
              <a:rPr lang="en-US" sz="2500" b="true">
                <a:solidFill>
                  <a:srgbClr val="000000"/>
                </a:solidFill>
                <a:latin typeface="Aileron Bold"/>
                <a:ea typeface="Aileron Bold"/>
                <a:cs typeface="Aileron Bold"/>
                <a:sym typeface="Aileron Bold"/>
              </a:rPr>
              <a:t>ey-ValuKey-Value Store e Store </a:t>
            </a:r>
          </a:p>
        </p:txBody>
      </p:sp>
      <p:sp>
        <p:nvSpPr>
          <p:cNvPr name="TextBox 31" id="31"/>
          <p:cNvSpPr txBox="true"/>
          <p:nvPr/>
        </p:nvSpPr>
        <p:spPr>
          <a:xfrm rot="0">
            <a:off x="12837874" y="7385465"/>
            <a:ext cx="4421426" cy="431798"/>
          </a:xfrm>
          <a:prstGeom prst="rect">
            <a:avLst/>
          </a:prstGeom>
        </p:spPr>
        <p:txBody>
          <a:bodyPr anchor="t" rtlCol="false" tIns="0" lIns="0" bIns="0" rIns="0">
            <a:spAutoFit/>
          </a:bodyPr>
          <a:lstStyle/>
          <a:p>
            <a:pPr algn="just">
              <a:lnSpc>
                <a:spcPts val="3500"/>
              </a:lnSpc>
            </a:pPr>
            <a:r>
              <a:rPr lang="en-US" sz="2500" b="true">
                <a:solidFill>
                  <a:srgbClr val="000000"/>
                </a:solidFill>
                <a:latin typeface="Aileron Bold"/>
                <a:ea typeface="Aileron Bold"/>
                <a:cs typeface="Aileron Bold"/>
                <a:sym typeface="Aileron Bold"/>
              </a:rPr>
              <a:t>G</a:t>
            </a:r>
            <a:r>
              <a:rPr lang="en-US" sz="2500" b="true">
                <a:solidFill>
                  <a:srgbClr val="000000"/>
                </a:solidFill>
                <a:latin typeface="Aileron Bold"/>
                <a:ea typeface="Aileron Bold"/>
                <a:cs typeface="Aileron Bold"/>
                <a:sym typeface="Aileron Bold"/>
              </a:rPr>
              <a:t>raph-Based </a:t>
            </a:r>
          </a:p>
        </p:txBody>
      </p:sp>
      <p:sp>
        <p:nvSpPr>
          <p:cNvPr name="TextBox 32" id="32"/>
          <p:cNvSpPr txBox="true"/>
          <p:nvPr/>
        </p:nvSpPr>
        <p:spPr>
          <a:xfrm rot="0">
            <a:off x="11775256" y="5890116"/>
            <a:ext cx="266343" cy="522605"/>
          </a:xfrm>
          <a:prstGeom prst="rect">
            <a:avLst/>
          </a:prstGeom>
        </p:spPr>
        <p:txBody>
          <a:bodyPr anchor="t" rtlCol="false" tIns="0" lIns="0" bIns="0" rIns="0">
            <a:spAutoFit/>
          </a:bodyPr>
          <a:lstStyle/>
          <a:p>
            <a:pPr algn="l" marL="0" indent="0" lvl="0">
              <a:lnSpc>
                <a:spcPts val="4060"/>
              </a:lnSpc>
              <a:spcBef>
                <a:spcPct val="0"/>
              </a:spcBef>
            </a:pPr>
            <a:r>
              <a:rPr lang="en-US" b="true" sz="3500">
                <a:solidFill>
                  <a:srgbClr val="F5F8EE"/>
                </a:solidFill>
                <a:latin typeface="Montserrat Ultra-Bold"/>
                <a:ea typeface="Montserrat Ultra-Bold"/>
                <a:cs typeface="Montserrat Ultra-Bold"/>
                <a:sym typeface="Montserrat Ultra-Bold"/>
              </a:rPr>
              <a:t>2</a:t>
            </a:r>
          </a:p>
        </p:txBody>
      </p:sp>
      <p:sp>
        <p:nvSpPr>
          <p:cNvPr name="TextBox 33" id="33"/>
          <p:cNvSpPr txBox="true"/>
          <p:nvPr/>
        </p:nvSpPr>
        <p:spPr>
          <a:xfrm rot="0">
            <a:off x="6631160" y="7359627"/>
            <a:ext cx="267839" cy="522605"/>
          </a:xfrm>
          <a:prstGeom prst="rect">
            <a:avLst/>
          </a:prstGeom>
        </p:spPr>
        <p:txBody>
          <a:bodyPr anchor="t" rtlCol="false" tIns="0" lIns="0" bIns="0" rIns="0">
            <a:spAutoFit/>
          </a:bodyPr>
          <a:lstStyle/>
          <a:p>
            <a:pPr algn="l" marL="0" indent="0" lvl="0">
              <a:lnSpc>
                <a:spcPts val="4060"/>
              </a:lnSpc>
              <a:spcBef>
                <a:spcPct val="0"/>
              </a:spcBef>
            </a:pPr>
            <a:r>
              <a:rPr lang="en-US" b="true" sz="3500">
                <a:solidFill>
                  <a:srgbClr val="F5F8EE"/>
                </a:solidFill>
                <a:latin typeface="Montserrat Ultra-Bold"/>
                <a:ea typeface="Montserrat Ultra-Bold"/>
                <a:cs typeface="Montserrat Ultra-Bold"/>
                <a:sym typeface="Montserrat Ultra-Bold"/>
              </a:rPr>
              <a:t>3</a:t>
            </a:r>
          </a:p>
        </p:txBody>
      </p:sp>
      <p:sp>
        <p:nvSpPr>
          <p:cNvPr name="TextBox 34" id="34"/>
          <p:cNvSpPr txBox="true"/>
          <p:nvPr/>
        </p:nvSpPr>
        <p:spPr>
          <a:xfrm rot="0">
            <a:off x="11722920" y="7359627"/>
            <a:ext cx="266343" cy="522605"/>
          </a:xfrm>
          <a:prstGeom prst="rect">
            <a:avLst/>
          </a:prstGeom>
        </p:spPr>
        <p:txBody>
          <a:bodyPr anchor="t" rtlCol="false" tIns="0" lIns="0" bIns="0" rIns="0">
            <a:spAutoFit/>
          </a:bodyPr>
          <a:lstStyle/>
          <a:p>
            <a:pPr algn="l" marL="0" indent="0" lvl="0">
              <a:lnSpc>
                <a:spcPts val="4060"/>
              </a:lnSpc>
              <a:spcBef>
                <a:spcPct val="0"/>
              </a:spcBef>
            </a:pPr>
            <a:r>
              <a:rPr lang="en-US" b="true" sz="3500">
                <a:solidFill>
                  <a:srgbClr val="F5F8EE"/>
                </a:solidFill>
                <a:latin typeface="Montserrat Ultra-Bold"/>
                <a:ea typeface="Montserrat Ultra-Bold"/>
                <a:cs typeface="Montserrat Ultra-Bold"/>
                <a:sym typeface="Montserrat Ultra-Bold"/>
              </a:rPr>
              <a:t>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0638" y="3855143"/>
            <a:ext cx="3729985" cy="2030922"/>
            <a:chOff x="0" y="0"/>
            <a:chExt cx="982383" cy="534893"/>
          </a:xfrm>
        </p:grpSpPr>
        <p:sp>
          <p:nvSpPr>
            <p:cNvPr name="Freeform 3" id="3"/>
            <p:cNvSpPr/>
            <p:nvPr/>
          </p:nvSpPr>
          <p:spPr>
            <a:xfrm flipH="false" flipV="false" rot="0">
              <a:off x="0" y="0"/>
              <a:ext cx="982383" cy="534893"/>
            </a:xfrm>
            <a:custGeom>
              <a:avLst/>
              <a:gdLst/>
              <a:ahLst/>
              <a:cxnLst/>
              <a:rect r="r" b="b" t="t" l="l"/>
              <a:pathLst>
                <a:path h="534893" w="982383">
                  <a:moveTo>
                    <a:pt x="41512" y="0"/>
                  </a:moveTo>
                  <a:lnTo>
                    <a:pt x="940871" y="0"/>
                  </a:lnTo>
                  <a:cubicBezTo>
                    <a:pt x="963797" y="0"/>
                    <a:pt x="982383" y="18585"/>
                    <a:pt x="982383" y="41512"/>
                  </a:cubicBezTo>
                  <a:lnTo>
                    <a:pt x="982383" y="493381"/>
                  </a:lnTo>
                  <a:cubicBezTo>
                    <a:pt x="982383" y="516308"/>
                    <a:pt x="963797" y="534893"/>
                    <a:pt x="940871" y="534893"/>
                  </a:cubicBezTo>
                  <a:lnTo>
                    <a:pt x="41512" y="534893"/>
                  </a:lnTo>
                  <a:cubicBezTo>
                    <a:pt x="18585" y="534893"/>
                    <a:pt x="0" y="516308"/>
                    <a:pt x="0" y="493381"/>
                  </a:cubicBezTo>
                  <a:lnTo>
                    <a:pt x="0" y="41512"/>
                  </a:lnTo>
                  <a:cubicBezTo>
                    <a:pt x="0" y="18585"/>
                    <a:pt x="18585" y="0"/>
                    <a:pt x="41512" y="0"/>
                  </a:cubicBezTo>
                  <a:close/>
                </a:path>
              </a:pathLst>
            </a:custGeom>
            <a:solidFill>
              <a:srgbClr val="58AF9E"/>
            </a:solidFill>
          </p:spPr>
        </p:sp>
        <p:sp>
          <p:nvSpPr>
            <p:cNvPr name="TextBox 4" id="4"/>
            <p:cNvSpPr txBox="true"/>
            <p:nvPr/>
          </p:nvSpPr>
          <p:spPr>
            <a:xfrm>
              <a:off x="0" y="-57150"/>
              <a:ext cx="982383" cy="592043"/>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0">
            <a:off x="4453683" y="4526240"/>
            <a:ext cx="688729" cy="688729"/>
          </a:xfrm>
          <a:custGeom>
            <a:avLst/>
            <a:gdLst/>
            <a:ahLst/>
            <a:cxnLst/>
            <a:rect r="r" b="b" t="t" l="l"/>
            <a:pathLst>
              <a:path h="688729" w="688729">
                <a:moveTo>
                  <a:pt x="0" y="0"/>
                </a:moveTo>
                <a:lnTo>
                  <a:pt x="688729" y="0"/>
                </a:lnTo>
                <a:lnTo>
                  <a:pt x="688729"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80638" y="6332564"/>
            <a:ext cx="3729985" cy="2030922"/>
            <a:chOff x="0" y="0"/>
            <a:chExt cx="982383" cy="534893"/>
          </a:xfrm>
        </p:grpSpPr>
        <p:sp>
          <p:nvSpPr>
            <p:cNvPr name="Freeform 7" id="7"/>
            <p:cNvSpPr/>
            <p:nvPr/>
          </p:nvSpPr>
          <p:spPr>
            <a:xfrm flipH="false" flipV="false" rot="0">
              <a:off x="0" y="0"/>
              <a:ext cx="982383" cy="534893"/>
            </a:xfrm>
            <a:custGeom>
              <a:avLst/>
              <a:gdLst/>
              <a:ahLst/>
              <a:cxnLst/>
              <a:rect r="r" b="b" t="t" l="l"/>
              <a:pathLst>
                <a:path h="534893" w="982383">
                  <a:moveTo>
                    <a:pt x="41512" y="0"/>
                  </a:moveTo>
                  <a:lnTo>
                    <a:pt x="940871" y="0"/>
                  </a:lnTo>
                  <a:cubicBezTo>
                    <a:pt x="963797" y="0"/>
                    <a:pt x="982383" y="18585"/>
                    <a:pt x="982383" y="41512"/>
                  </a:cubicBezTo>
                  <a:lnTo>
                    <a:pt x="982383" y="493381"/>
                  </a:lnTo>
                  <a:cubicBezTo>
                    <a:pt x="982383" y="516308"/>
                    <a:pt x="963797" y="534893"/>
                    <a:pt x="940871" y="534893"/>
                  </a:cubicBezTo>
                  <a:lnTo>
                    <a:pt x="41512" y="534893"/>
                  </a:lnTo>
                  <a:cubicBezTo>
                    <a:pt x="18585" y="534893"/>
                    <a:pt x="0" y="516308"/>
                    <a:pt x="0" y="493381"/>
                  </a:cubicBezTo>
                  <a:lnTo>
                    <a:pt x="0" y="41512"/>
                  </a:lnTo>
                  <a:cubicBezTo>
                    <a:pt x="0" y="18585"/>
                    <a:pt x="18585" y="0"/>
                    <a:pt x="41512" y="0"/>
                  </a:cubicBezTo>
                  <a:close/>
                </a:path>
              </a:pathLst>
            </a:custGeom>
            <a:solidFill>
              <a:srgbClr val="58AF9E"/>
            </a:solidFill>
          </p:spPr>
        </p:sp>
        <p:sp>
          <p:nvSpPr>
            <p:cNvPr name="TextBox 8" id="8"/>
            <p:cNvSpPr txBox="true"/>
            <p:nvPr/>
          </p:nvSpPr>
          <p:spPr>
            <a:xfrm>
              <a:off x="0" y="-57150"/>
              <a:ext cx="982383" cy="592043"/>
            </a:xfrm>
            <a:prstGeom prst="rect">
              <a:avLst/>
            </a:prstGeom>
          </p:spPr>
          <p:txBody>
            <a:bodyPr anchor="ctr" rtlCol="false" tIns="50800" lIns="50800" bIns="50800" rIns="50800"/>
            <a:lstStyle/>
            <a:p>
              <a:pPr algn="ctr">
                <a:lnSpc>
                  <a:spcPts val="3500"/>
                </a:lnSpc>
              </a:pPr>
            </a:p>
          </p:txBody>
        </p:sp>
      </p:grpSp>
      <p:sp>
        <p:nvSpPr>
          <p:cNvPr name="Freeform 9" id="9"/>
          <p:cNvSpPr/>
          <p:nvPr/>
        </p:nvSpPr>
        <p:spPr>
          <a:xfrm flipH="false" flipV="false" rot="0">
            <a:off x="4414321" y="7003660"/>
            <a:ext cx="688729" cy="688729"/>
          </a:xfrm>
          <a:custGeom>
            <a:avLst/>
            <a:gdLst/>
            <a:ahLst/>
            <a:cxnLst/>
            <a:rect r="r" b="b" t="t" l="l"/>
            <a:pathLst>
              <a:path h="688729" w="688729">
                <a:moveTo>
                  <a:pt x="0" y="0"/>
                </a:moveTo>
                <a:lnTo>
                  <a:pt x="688728" y="0"/>
                </a:lnTo>
                <a:lnTo>
                  <a:pt x="688728"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653158" y="3855143"/>
            <a:ext cx="3729985" cy="2030922"/>
            <a:chOff x="0" y="0"/>
            <a:chExt cx="982383" cy="534893"/>
          </a:xfrm>
        </p:grpSpPr>
        <p:sp>
          <p:nvSpPr>
            <p:cNvPr name="Freeform 11" id="11"/>
            <p:cNvSpPr/>
            <p:nvPr/>
          </p:nvSpPr>
          <p:spPr>
            <a:xfrm flipH="false" flipV="false" rot="0">
              <a:off x="0" y="0"/>
              <a:ext cx="982383" cy="534893"/>
            </a:xfrm>
            <a:custGeom>
              <a:avLst/>
              <a:gdLst/>
              <a:ahLst/>
              <a:cxnLst/>
              <a:rect r="r" b="b" t="t" l="l"/>
              <a:pathLst>
                <a:path h="534893" w="982383">
                  <a:moveTo>
                    <a:pt x="41512" y="0"/>
                  </a:moveTo>
                  <a:lnTo>
                    <a:pt x="940871" y="0"/>
                  </a:lnTo>
                  <a:cubicBezTo>
                    <a:pt x="963797" y="0"/>
                    <a:pt x="982383" y="18585"/>
                    <a:pt x="982383" y="41512"/>
                  </a:cubicBezTo>
                  <a:lnTo>
                    <a:pt x="982383" y="493381"/>
                  </a:lnTo>
                  <a:cubicBezTo>
                    <a:pt x="982383" y="516308"/>
                    <a:pt x="963797" y="534893"/>
                    <a:pt x="940871" y="534893"/>
                  </a:cubicBezTo>
                  <a:lnTo>
                    <a:pt x="41512" y="534893"/>
                  </a:lnTo>
                  <a:cubicBezTo>
                    <a:pt x="18585" y="534893"/>
                    <a:pt x="0" y="516308"/>
                    <a:pt x="0" y="493381"/>
                  </a:cubicBezTo>
                  <a:lnTo>
                    <a:pt x="0" y="41512"/>
                  </a:lnTo>
                  <a:cubicBezTo>
                    <a:pt x="0" y="18585"/>
                    <a:pt x="18585" y="0"/>
                    <a:pt x="41512" y="0"/>
                  </a:cubicBezTo>
                  <a:close/>
                </a:path>
              </a:pathLst>
            </a:custGeom>
            <a:solidFill>
              <a:srgbClr val="58AF9E"/>
            </a:solidFill>
          </p:spPr>
        </p:sp>
        <p:sp>
          <p:nvSpPr>
            <p:cNvPr name="TextBox 12" id="12"/>
            <p:cNvSpPr txBox="true"/>
            <p:nvPr/>
          </p:nvSpPr>
          <p:spPr>
            <a:xfrm>
              <a:off x="0" y="-57150"/>
              <a:ext cx="982383" cy="592043"/>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12876283" y="4526240"/>
            <a:ext cx="688729" cy="688729"/>
          </a:xfrm>
          <a:custGeom>
            <a:avLst/>
            <a:gdLst/>
            <a:ahLst/>
            <a:cxnLst/>
            <a:rect r="r" b="b" t="t" l="l"/>
            <a:pathLst>
              <a:path h="688729" w="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9653158" y="6332564"/>
            <a:ext cx="3729985" cy="2030922"/>
            <a:chOff x="0" y="0"/>
            <a:chExt cx="982383" cy="534893"/>
          </a:xfrm>
        </p:grpSpPr>
        <p:sp>
          <p:nvSpPr>
            <p:cNvPr name="Freeform 15" id="15"/>
            <p:cNvSpPr/>
            <p:nvPr/>
          </p:nvSpPr>
          <p:spPr>
            <a:xfrm flipH="false" flipV="false" rot="0">
              <a:off x="0" y="0"/>
              <a:ext cx="982383" cy="534893"/>
            </a:xfrm>
            <a:custGeom>
              <a:avLst/>
              <a:gdLst/>
              <a:ahLst/>
              <a:cxnLst/>
              <a:rect r="r" b="b" t="t" l="l"/>
              <a:pathLst>
                <a:path h="534893" w="982383">
                  <a:moveTo>
                    <a:pt x="41512" y="0"/>
                  </a:moveTo>
                  <a:lnTo>
                    <a:pt x="940871" y="0"/>
                  </a:lnTo>
                  <a:cubicBezTo>
                    <a:pt x="963797" y="0"/>
                    <a:pt x="982383" y="18585"/>
                    <a:pt x="982383" y="41512"/>
                  </a:cubicBezTo>
                  <a:lnTo>
                    <a:pt x="982383" y="493381"/>
                  </a:lnTo>
                  <a:cubicBezTo>
                    <a:pt x="982383" y="516308"/>
                    <a:pt x="963797" y="534893"/>
                    <a:pt x="940871" y="534893"/>
                  </a:cubicBezTo>
                  <a:lnTo>
                    <a:pt x="41512" y="534893"/>
                  </a:lnTo>
                  <a:cubicBezTo>
                    <a:pt x="18585" y="534893"/>
                    <a:pt x="0" y="516308"/>
                    <a:pt x="0" y="493381"/>
                  </a:cubicBezTo>
                  <a:lnTo>
                    <a:pt x="0" y="41512"/>
                  </a:lnTo>
                  <a:cubicBezTo>
                    <a:pt x="0" y="18585"/>
                    <a:pt x="18585" y="0"/>
                    <a:pt x="41512" y="0"/>
                  </a:cubicBezTo>
                  <a:close/>
                </a:path>
              </a:pathLst>
            </a:custGeom>
            <a:solidFill>
              <a:srgbClr val="58AF9E"/>
            </a:solidFill>
          </p:spPr>
        </p:sp>
        <p:sp>
          <p:nvSpPr>
            <p:cNvPr name="TextBox 16" id="16"/>
            <p:cNvSpPr txBox="true"/>
            <p:nvPr/>
          </p:nvSpPr>
          <p:spPr>
            <a:xfrm>
              <a:off x="0" y="-57150"/>
              <a:ext cx="982383" cy="59204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13038779" y="6945827"/>
            <a:ext cx="688729" cy="688729"/>
          </a:xfrm>
          <a:custGeom>
            <a:avLst/>
            <a:gdLst/>
            <a:ahLst/>
            <a:cxnLst/>
            <a:rect r="r" b="b" t="t" l="l"/>
            <a:pathLst>
              <a:path h="688729" w="688729">
                <a:moveTo>
                  <a:pt x="0" y="0"/>
                </a:moveTo>
                <a:lnTo>
                  <a:pt x="688729" y="0"/>
                </a:lnTo>
                <a:lnTo>
                  <a:pt x="688729"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5854216" y="7853216"/>
            <a:ext cx="4867569" cy="2433784"/>
          </a:xfrm>
          <a:custGeom>
            <a:avLst/>
            <a:gdLst/>
            <a:ahLst/>
            <a:cxnLst/>
            <a:rect r="r" b="b" t="t" l="l"/>
            <a:pathLst>
              <a:path h="2433784" w="4867569">
                <a:moveTo>
                  <a:pt x="0" y="0"/>
                </a:moveTo>
                <a:lnTo>
                  <a:pt x="4867568" y="0"/>
                </a:lnTo>
                <a:lnTo>
                  <a:pt x="4867568" y="2433784"/>
                </a:lnTo>
                <a:lnTo>
                  <a:pt x="0" y="2433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846478" y="1583748"/>
            <a:ext cx="12005321" cy="1156970"/>
          </a:xfrm>
          <a:prstGeom prst="rect">
            <a:avLst/>
          </a:prstGeom>
        </p:spPr>
        <p:txBody>
          <a:bodyPr anchor="t" rtlCol="false" tIns="0" lIns="0" bIns="0" rIns="0">
            <a:spAutoFit/>
          </a:bodyPr>
          <a:lstStyle/>
          <a:p>
            <a:pPr algn="r" marL="0" indent="0" lvl="0">
              <a:lnSpc>
                <a:spcPts val="9040"/>
              </a:lnSpc>
              <a:spcBef>
                <a:spcPct val="0"/>
              </a:spcBef>
            </a:pPr>
            <a:r>
              <a:rPr lang="en-US" b="true" sz="8000">
                <a:solidFill>
                  <a:srgbClr val="0C3635"/>
                </a:solidFill>
                <a:latin typeface="Montserrat Ultra-Bold"/>
                <a:ea typeface="Montserrat Ultra-Bold"/>
                <a:cs typeface="Montserrat Ultra-Bold"/>
                <a:sym typeface="Montserrat Ultra-Bold"/>
              </a:rPr>
              <a:t>ƯU ĐIỂM CỦA NOSQL</a:t>
            </a:r>
          </a:p>
        </p:txBody>
      </p:sp>
      <p:sp>
        <p:nvSpPr>
          <p:cNvPr name="TextBox 20" id="20"/>
          <p:cNvSpPr txBox="true"/>
          <p:nvPr/>
        </p:nvSpPr>
        <p:spPr>
          <a:xfrm rot="0">
            <a:off x="1663920" y="4308629"/>
            <a:ext cx="2667297" cy="1057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EFFFA"/>
                </a:solidFill>
                <a:latin typeface="Aileron Heavy"/>
                <a:ea typeface="Aileron Heavy"/>
                <a:cs typeface="Aileron Heavy"/>
                <a:sym typeface="Aileron Heavy"/>
              </a:rPr>
              <a:t>Cost-effectiveness</a:t>
            </a:r>
          </a:p>
        </p:txBody>
      </p:sp>
      <p:sp>
        <p:nvSpPr>
          <p:cNvPr name="TextBox 21" id="21"/>
          <p:cNvSpPr txBox="true"/>
          <p:nvPr/>
        </p:nvSpPr>
        <p:spPr>
          <a:xfrm rot="0">
            <a:off x="5323125" y="4202584"/>
            <a:ext cx="3205122" cy="1189355"/>
          </a:xfrm>
          <a:prstGeom prst="rect">
            <a:avLst/>
          </a:prstGeom>
        </p:spPr>
        <p:txBody>
          <a:bodyPr anchor="t" rtlCol="false" tIns="0" lIns="0" bIns="0" rIns="0">
            <a:spAutoFit/>
          </a:bodyPr>
          <a:lstStyle/>
          <a:p>
            <a:pPr algn="just" marL="0" indent="0" lvl="0">
              <a:lnSpc>
                <a:spcPts val="3219"/>
              </a:lnSpc>
              <a:spcBef>
                <a:spcPct val="0"/>
              </a:spcBef>
            </a:pPr>
            <a:r>
              <a:rPr lang="en-US" b="true" sz="2299">
                <a:solidFill>
                  <a:srgbClr val="000000"/>
                </a:solidFill>
                <a:latin typeface="Montserrat Medium"/>
                <a:ea typeface="Montserrat Medium"/>
                <a:cs typeface="Montserrat Medium"/>
                <a:sym typeface="Montserrat Medium"/>
              </a:rPr>
              <a:t>Phân phối tài nguyên linh hoạt, giảm chi phí và hiệu quả.</a:t>
            </a:r>
          </a:p>
        </p:txBody>
      </p:sp>
      <p:sp>
        <p:nvSpPr>
          <p:cNvPr name="TextBox 22" id="22"/>
          <p:cNvSpPr txBox="true"/>
          <p:nvPr/>
        </p:nvSpPr>
        <p:spPr>
          <a:xfrm rot="0">
            <a:off x="1734448" y="6994916"/>
            <a:ext cx="2505372" cy="5238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EFFFA"/>
                </a:solidFill>
                <a:latin typeface="Aileron Heavy"/>
                <a:ea typeface="Aileron Heavy"/>
                <a:cs typeface="Aileron Heavy"/>
                <a:sym typeface="Aileron Heavy"/>
              </a:rPr>
              <a:t>Flexibility</a:t>
            </a:r>
          </a:p>
        </p:txBody>
      </p:sp>
      <p:sp>
        <p:nvSpPr>
          <p:cNvPr name="TextBox 23" id="23"/>
          <p:cNvSpPr txBox="true"/>
          <p:nvPr/>
        </p:nvSpPr>
        <p:spPr>
          <a:xfrm rot="0">
            <a:off x="10184502" y="4575329"/>
            <a:ext cx="2177430" cy="5238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EFFFA"/>
                </a:solidFill>
                <a:latin typeface="Aileron Heavy"/>
                <a:ea typeface="Aileron Heavy"/>
                <a:cs typeface="Aileron Heavy"/>
                <a:sym typeface="Aileron Heavy"/>
              </a:rPr>
              <a:t>Replication</a:t>
            </a:r>
          </a:p>
        </p:txBody>
      </p:sp>
      <p:sp>
        <p:nvSpPr>
          <p:cNvPr name="TextBox 24" id="24"/>
          <p:cNvSpPr txBox="true"/>
          <p:nvPr/>
        </p:nvSpPr>
        <p:spPr>
          <a:xfrm rot="0">
            <a:off x="10184502" y="6994916"/>
            <a:ext cx="2667297" cy="5238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EFFFA"/>
                </a:solidFill>
                <a:latin typeface="Aileron Heavy"/>
                <a:ea typeface="Aileron Heavy"/>
                <a:cs typeface="Aileron Heavy"/>
                <a:sym typeface="Aileron Heavy"/>
              </a:rPr>
              <a:t>Speed</a:t>
            </a:r>
          </a:p>
        </p:txBody>
      </p:sp>
      <p:sp>
        <p:nvSpPr>
          <p:cNvPr name="TextBox 25" id="25"/>
          <p:cNvSpPr txBox="true"/>
          <p:nvPr/>
        </p:nvSpPr>
        <p:spPr>
          <a:xfrm rot="0">
            <a:off x="5274499" y="6684718"/>
            <a:ext cx="3473014" cy="1189355"/>
          </a:xfrm>
          <a:prstGeom prst="rect">
            <a:avLst/>
          </a:prstGeom>
        </p:spPr>
        <p:txBody>
          <a:bodyPr anchor="t" rtlCol="false" tIns="0" lIns="0" bIns="0" rIns="0">
            <a:spAutoFit/>
          </a:bodyPr>
          <a:lstStyle/>
          <a:p>
            <a:pPr algn="just" marL="0" indent="0" lvl="0">
              <a:lnSpc>
                <a:spcPts val="3219"/>
              </a:lnSpc>
              <a:spcBef>
                <a:spcPct val="0"/>
              </a:spcBef>
            </a:pPr>
            <a:r>
              <a:rPr lang="en-US" b="true" sz="2299">
                <a:solidFill>
                  <a:srgbClr val="000000"/>
                </a:solidFill>
                <a:latin typeface="Montserrat Medium"/>
                <a:ea typeface="Montserrat Medium"/>
                <a:cs typeface="Montserrat Medium"/>
                <a:sym typeface="Montserrat Medium"/>
              </a:rPr>
              <a:t>Không yêu cầu lược đồ cố định, dễ dàng thay đổi cấu trúc dữ liệu.</a:t>
            </a:r>
          </a:p>
        </p:txBody>
      </p:sp>
      <p:sp>
        <p:nvSpPr>
          <p:cNvPr name="TextBox 26" id="26"/>
          <p:cNvSpPr txBox="true"/>
          <p:nvPr/>
        </p:nvSpPr>
        <p:spPr>
          <a:xfrm rot="0">
            <a:off x="13826278" y="4265132"/>
            <a:ext cx="3722477" cy="1189355"/>
          </a:xfrm>
          <a:prstGeom prst="rect">
            <a:avLst/>
          </a:prstGeom>
        </p:spPr>
        <p:txBody>
          <a:bodyPr anchor="t" rtlCol="false" tIns="0" lIns="0" bIns="0" rIns="0">
            <a:spAutoFit/>
          </a:bodyPr>
          <a:lstStyle/>
          <a:p>
            <a:pPr algn="l">
              <a:lnSpc>
                <a:spcPts val="3219"/>
              </a:lnSpc>
              <a:spcBef>
                <a:spcPct val="0"/>
              </a:spcBef>
            </a:pPr>
            <a:r>
              <a:rPr lang="en-US" b="true" sz="2299">
                <a:solidFill>
                  <a:srgbClr val="000000"/>
                </a:solidFill>
                <a:latin typeface="Montserrat Medium"/>
                <a:ea typeface="Montserrat Medium"/>
                <a:cs typeface="Montserrat Medium"/>
                <a:sym typeface="Montserrat Medium"/>
              </a:rPr>
              <a:t>Hầu hết NoSQL hỗ trợ tự động nhân bản dữ liệu trên nhiều máy chủ </a:t>
            </a:r>
          </a:p>
        </p:txBody>
      </p:sp>
      <p:sp>
        <p:nvSpPr>
          <p:cNvPr name="TextBox 27" id="27"/>
          <p:cNvSpPr txBox="true"/>
          <p:nvPr/>
        </p:nvSpPr>
        <p:spPr>
          <a:xfrm rot="0">
            <a:off x="13918008" y="6684718"/>
            <a:ext cx="2977510" cy="1189355"/>
          </a:xfrm>
          <a:prstGeom prst="rect">
            <a:avLst/>
          </a:prstGeom>
        </p:spPr>
        <p:txBody>
          <a:bodyPr anchor="t" rtlCol="false" tIns="0" lIns="0" bIns="0" rIns="0">
            <a:spAutoFit/>
          </a:bodyPr>
          <a:lstStyle/>
          <a:p>
            <a:pPr algn="l">
              <a:lnSpc>
                <a:spcPts val="3219"/>
              </a:lnSpc>
              <a:spcBef>
                <a:spcPct val="0"/>
              </a:spcBef>
            </a:pPr>
            <a:r>
              <a:rPr lang="en-US" b="true" sz="2299">
                <a:solidFill>
                  <a:srgbClr val="000000"/>
                </a:solidFill>
                <a:latin typeface="Montserrat Medium"/>
                <a:ea typeface="Montserrat Medium"/>
                <a:cs typeface="Montserrat Medium"/>
                <a:sym typeface="Montserrat Medium"/>
              </a:rPr>
              <a:t>NoSQL cho phép lưu trữ và xử lý dữ liệu nhanh chóng</a:t>
            </a:r>
          </a:p>
        </p:txBody>
      </p:sp>
      <p:grpSp>
        <p:nvGrpSpPr>
          <p:cNvPr name="Group 28" id="28"/>
          <p:cNvGrpSpPr/>
          <p:nvPr/>
        </p:nvGrpSpPr>
        <p:grpSpPr>
          <a:xfrm rot="0">
            <a:off x="-6126036" y="9287760"/>
            <a:ext cx="16131457" cy="2875260"/>
            <a:chOff x="0" y="0"/>
            <a:chExt cx="4248614" cy="757270"/>
          </a:xfrm>
        </p:grpSpPr>
        <p:sp>
          <p:nvSpPr>
            <p:cNvPr name="Freeform 29" id="29"/>
            <p:cNvSpPr/>
            <p:nvPr/>
          </p:nvSpPr>
          <p:spPr>
            <a:xfrm flipH="false" flipV="false" rot="0">
              <a:off x="0" y="0"/>
              <a:ext cx="4248614" cy="757270"/>
            </a:xfrm>
            <a:custGeom>
              <a:avLst/>
              <a:gdLst/>
              <a:ahLst/>
              <a:cxnLst/>
              <a:rect r="r" b="b" t="t" l="l"/>
              <a:pathLst>
                <a:path h="757270" w="4248614">
                  <a:moveTo>
                    <a:pt x="47993" y="0"/>
                  </a:moveTo>
                  <a:lnTo>
                    <a:pt x="4200622" y="0"/>
                  </a:lnTo>
                  <a:cubicBezTo>
                    <a:pt x="4213350" y="0"/>
                    <a:pt x="4225557" y="5056"/>
                    <a:pt x="4234557" y="14057"/>
                  </a:cubicBezTo>
                  <a:cubicBezTo>
                    <a:pt x="4243558" y="23057"/>
                    <a:pt x="4248614" y="35264"/>
                    <a:pt x="4248614" y="47993"/>
                  </a:cubicBezTo>
                  <a:lnTo>
                    <a:pt x="4248614" y="709277"/>
                  </a:lnTo>
                  <a:cubicBezTo>
                    <a:pt x="4248614" y="722006"/>
                    <a:pt x="4243558" y="734213"/>
                    <a:pt x="4234557" y="743213"/>
                  </a:cubicBezTo>
                  <a:cubicBezTo>
                    <a:pt x="4225557" y="752214"/>
                    <a:pt x="4213350" y="757270"/>
                    <a:pt x="4200622" y="757270"/>
                  </a:cubicBezTo>
                  <a:lnTo>
                    <a:pt x="47993" y="757270"/>
                  </a:lnTo>
                  <a:cubicBezTo>
                    <a:pt x="21487" y="757270"/>
                    <a:pt x="0" y="735783"/>
                    <a:pt x="0" y="709277"/>
                  </a:cubicBezTo>
                  <a:lnTo>
                    <a:pt x="0" y="47993"/>
                  </a:lnTo>
                  <a:cubicBezTo>
                    <a:pt x="0" y="35264"/>
                    <a:pt x="5056" y="23057"/>
                    <a:pt x="14057" y="14057"/>
                  </a:cubicBezTo>
                  <a:cubicBezTo>
                    <a:pt x="23057" y="5056"/>
                    <a:pt x="35264" y="0"/>
                    <a:pt x="47993" y="0"/>
                  </a:cubicBezTo>
                  <a:close/>
                </a:path>
              </a:pathLst>
            </a:custGeom>
            <a:solidFill>
              <a:srgbClr val="D9DFCE"/>
            </a:solidFill>
          </p:spPr>
        </p:sp>
        <p:sp>
          <p:nvSpPr>
            <p:cNvPr name="TextBox 30" id="30"/>
            <p:cNvSpPr txBox="true"/>
            <p:nvPr/>
          </p:nvSpPr>
          <p:spPr>
            <a:xfrm>
              <a:off x="0" y="-57150"/>
              <a:ext cx="4248614" cy="814420"/>
            </a:xfrm>
            <a:prstGeom prst="rect">
              <a:avLst/>
            </a:prstGeom>
          </p:spPr>
          <p:txBody>
            <a:bodyPr anchor="ctr" rtlCol="false" tIns="50800" lIns="50800" bIns="50800" rIns="50800"/>
            <a:lstStyle/>
            <a:p>
              <a:pPr algn="ctr">
                <a:lnSpc>
                  <a:spcPts val="406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7460647"/>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114356"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11260095" y="2064940"/>
            <a:ext cx="4880087" cy="4873987"/>
          </a:xfrm>
          <a:custGeom>
            <a:avLst/>
            <a:gdLst/>
            <a:ahLst/>
            <a:cxnLst/>
            <a:rect r="r" b="b" t="t" l="l"/>
            <a:pathLst>
              <a:path h="4873987" w="4880087">
                <a:moveTo>
                  <a:pt x="0" y="0"/>
                </a:moveTo>
                <a:lnTo>
                  <a:pt x="4880088" y="0"/>
                </a:lnTo>
                <a:lnTo>
                  <a:pt x="4880088" y="4873988"/>
                </a:lnTo>
                <a:lnTo>
                  <a:pt x="0" y="4873988"/>
                </a:lnTo>
                <a:lnTo>
                  <a:pt x="0" y="0"/>
                </a:lnTo>
                <a:close/>
              </a:path>
            </a:pathLst>
          </a:custGeom>
          <a:blipFill>
            <a:blip r:embed="rId2"/>
            <a:stretch>
              <a:fillRect l="0" t="0" r="0" b="0"/>
            </a:stretch>
          </a:blipFill>
        </p:spPr>
      </p:sp>
      <p:sp>
        <p:nvSpPr>
          <p:cNvPr name="Freeform 9" id="9"/>
          <p:cNvSpPr/>
          <p:nvPr/>
        </p:nvSpPr>
        <p:spPr>
          <a:xfrm flipH="false" flipV="false" rot="0">
            <a:off x="16270411" y="8620378"/>
            <a:ext cx="801716" cy="459165"/>
          </a:xfrm>
          <a:custGeom>
            <a:avLst/>
            <a:gdLst/>
            <a:ahLst/>
            <a:cxnLst/>
            <a:rect r="r" b="b" t="t" l="l"/>
            <a:pathLst>
              <a:path h="459165" w="801716">
                <a:moveTo>
                  <a:pt x="0" y="0"/>
                </a:moveTo>
                <a:lnTo>
                  <a:pt x="801717" y="0"/>
                </a:lnTo>
                <a:lnTo>
                  <a:pt x="801717" y="459165"/>
                </a:lnTo>
                <a:lnTo>
                  <a:pt x="0" y="4591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2114356" y="2306585"/>
            <a:ext cx="3427276" cy="342727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51325" t="-43253" r="-52916" b="-40147"/>
              </a:stretch>
            </a:blipFill>
          </p:spPr>
        </p:sp>
      </p:grpSp>
      <p:sp>
        <p:nvSpPr>
          <p:cNvPr name="Freeform 12" id="12"/>
          <p:cNvSpPr/>
          <p:nvPr/>
        </p:nvSpPr>
        <p:spPr>
          <a:xfrm flipH="false" flipV="false" rot="0">
            <a:off x="15701882" y="6382992"/>
            <a:ext cx="1709818" cy="254918"/>
          </a:xfrm>
          <a:custGeom>
            <a:avLst/>
            <a:gdLst/>
            <a:ahLst/>
            <a:cxnLst/>
            <a:rect r="r" b="b" t="t" l="l"/>
            <a:pathLst>
              <a:path h="254918" w="1709818">
                <a:moveTo>
                  <a:pt x="0" y="0"/>
                </a:moveTo>
                <a:lnTo>
                  <a:pt x="1709818" y="0"/>
                </a:lnTo>
                <a:lnTo>
                  <a:pt x="1709818" y="254918"/>
                </a:lnTo>
                <a:lnTo>
                  <a:pt x="0" y="2549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2553541" y="5733861"/>
            <a:ext cx="17624986" cy="4259392"/>
          </a:xfrm>
          <a:custGeom>
            <a:avLst/>
            <a:gdLst/>
            <a:ahLst/>
            <a:cxnLst/>
            <a:rect r="r" b="b" t="t" l="l"/>
            <a:pathLst>
              <a:path h="4259392" w="17624986">
                <a:moveTo>
                  <a:pt x="0" y="0"/>
                </a:moveTo>
                <a:lnTo>
                  <a:pt x="17624986" y="0"/>
                </a:lnTo>
                <a:lnTo>
                  <a:pt x="17624986" y="4259392"/>
                </a:lnTo>
                <a:lnTo>
                  <a:pt x="0" y="4259392"/>
                </a:lnTo>
                <a:lnTo>
                  <a:pt x="0" y="0"/>
                </a:lnTo>
                <a:close/>
              </a:path>
            </a:pathLst>
          </a:custGeom>
          <a:blipFill>
            <a:blip r:embed="rId8"/>
            <a:stretch>
              <a:fillRect l="0" t="-9581" r="0" b="-2141"/>
            </a:stretch>
          </a:blipFill>
        </p:spPr>
      </p:sp>
      <p:sp>
        <p:nvSpPr>
          <p:cNvPr name="TextBox 14" id="14"/>
          <p:cNvSpPr txBox="true"/>
          <p:nvPr/>
        </p:nvSpPr>
        <p:spPr>
          <a:xfrm rot="0">
            <a:off x="1012470" y="3577847"/>
            <a:ext cx="10002286" cy="3060064"/>
          </a:xfrm>
          <a:prstGeom prst="rect">
            <a:avLst/>
          </a:prstGeom>
        </p:spPr>
        <p:txBody>
          <a:bodyPr anchor="t" rtlCol="false" tIns="0" lIns="0" bIns="0" rIns="0">
            <a:spAutoFit/>
          </a:bodyPr>
          <a:lstStyle/>
          <a:p>
            <a:pPr algn="just">
              <a:lnSpc>
                <a:spcPts val="4060"/>
              </a:lnSpc>
            </a:pPr>
            <a:r>
              <a:rPr lang="en-US" sz="2900" b="true">
                <a:solidFill>
                  <a:srgbClr val="322A2A"/>
                </a:solidFill>
                <a:latin typeface="Montserrat Medium"/>
                <a:ea typeface="Montserrat Medium"/>
                <a:cs typeface="Montserrat Medium"/>
                <a:sym typeface="Montserrat Medium"/>
              </a:rPr>
              <a:t>MongoDB là một cơ sở dữ liệu dạng tài liệu (document database), cung cấp:  </a:t>
            </a:r>
          </a:p>
          <a:p>
            <a:pPr algn="just" marL="626122" indent="-313061" lvl="1">
              <a:lnSpc>
                <a:spcPts val="4060"/>
              </a:lnSpc>
              <a:buFont typeface="Arial"/>
              <a:buChar char="•"/>
            </a:pPr>
            <a:r>
              <a:rPr lang="en-US" b="true" sz="2900">
                <a:solidFill>
                  <a:srgbClr val="322A2A"/>
                </a:solidFill>
                <a:latin typeface="Montserrat Medium"/>
                <a:ea typeface="Montserrat Medium"/>
                <a:cs typeface="Montserrat Medium"/>
                <a:sym typeface="Montserrat Medium"/>
              </a:rPr>
              <a:t>Tính linh hoạt và khả năng mở rộng cao </a:t>
            </a:r>
          </a:p>
          <a:p>
            <a:pPr algn="just" marL="626122" indent="-313061" lvl="1">
              <a:lnSpc>
                <a:spcPts val="4060"/>
              </a:lnSpc>
              <a:buFont typeface="Arial"/>
              <a:buChar char="•"/>
            </a:pPr>
            <a:r>
              <a:rPr lang="en-US" b="true" sz="2900">
                <a:solidFill>
                  <a:srgbClr val="322A2A"/>
                </a:solidFill>
                <a:latin typeface="Montserrat Medium"/>
                <a:ea typeface="Montserrat Medium"/>
                <a:cs typeface="Montserrat Medium"/>
                <a:sym typeface="Montserrat Medium"/>
              </a:rPr>
              <a:t>Khả năng truy vấn mạnh mẽ </a:t>
            </a:r>
          </a:p>
          <a:p>
            <a:pPr algn="just" marL="626122" indent="-313061" lvl="1">
              <a:lnSpc>
                <a:spcPts val="4060"/>
              </a:lnSpc>
              <a:buFont typeface="Arial"/>
              <a:buChar char="•"/>
            </a:pPr>
            <a:r>
              <a:rPr lang="en-US" b="true" sz="2900">
                <a:solidFill>
                  <a:srgbClr val="322A2A"/>
                </a:solidFill>
                <a:latin typeface="Montserrat Medium"/>
                <a:ea typeface="Montserrat Medium"/>
                <a:cs typeface="Montserrat Medium"/>
                <a:sym typeface="Montserrat Medium"/>
              </a:rPr>
              <a:t>Chỉ mục (indexing) hiệu quả </a:t>
            </a:r>
          </a:p>
          <a:p>
            <a:pPr algn="just">
              <a:lnSpc>
                <a:spcPts val="4060"/>
              </a:lnSpc>
            </a:pPr>
          </a:p>
        </p:txBody>
      </p:sp>
      <p:sp>
        <p:nvSpPr>
          <p:cNvPr name="TextBox 15" id="15"/>
          <p:cNvSpPr txBox="true"/>
          <p:nvPr/>
        </p:nvSpPr>
        <p:spPr>
          <a:xfrm rot="0">
            <a:off x="1012470" y="2325635"/>
            <a:ext cx="11101885" cy="1045210"/>
          </a:xfrm>
          <a:prstGeom prst="rect">
            <a:avLst/>
          </a:prstGeom>
        </p:spPr>
        <p:txBody>
          <a:bodyPr anchor="t" rtlCol="false" tIns="0" lIns="0" bIns="0" rIns="0">
            <a:spAutoFit/>
          </a:bodyPr>
          <a:lstStyle/>
          <a:p>
            <a:pPr algn="l" marL="0" indent="0" lvl="0">
              <a:lnSpc>
                <a:spcPts val="8119"/>
              </a:lnSpc>
              <a:spcBef>
                <a:spcPct val="0"/>
              </a:spcBef>
            </a:pPr>
            <a:r>
              <a:rPr lang="en-US" b="true" sz="6999">
                <a:solidFill>
                  <a:srgbClr val="318575"/>
                </a:solidFill>
                <a:latin typeface="Montserrat Ultra-Bold"/>
                <a:ea typeface="Montserrat Ultra-Bold"/>
                <a:cs typeface="Montserrat Ultra-Bold"/>
                <a:sym typeface="Montserrat Ultra-Bold"/>
              </a:rPr>
              <a:t>GIỚI THIỆU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TextBox 2" id="2"/>
          <p:cNvSpPr txBox="true"/>
          <p:nvPr/>
        </p:nvSpPr>
        <p:spPr>
          <a:xfrm rot="0">
            <a:off x="7640254" y="5611643"/>
            <a:ext cx="6161062" cy="1255395"/>
          </a:xfrm>
          <a:prstGeom prst="rect">
            <a:avLst/>
          </a:prstGeom>
        </p:spPr>
        <p:txBody>
          <a:bodyPr anchor="t" rtlCol="false" tIns="0" lIns="0" bIns="0" rIns="0">
            <a:spAutoFit/>
          </a:bodyPr>
          <a:lstStyle/>
          <a:p>
            <a:pPr algn="l" marL="0" indent="0" lvl="0">
              <a:lnSpc>
                <a:spcPts val="8699"/>
              </a:lnSpc>
              <a:spcBef>
                <a:spcPct val="0"/>
              </a:spcBef>
            </a:pPr>
            <a:r>
              <a:rPr lang="en-US" b="true" sz="7499">
                <a:solidFill>
                  <a:srgbClr val="134E1A"/>
                </a:solidFill>
                <a:latin typeface="Akzidenz-Grotesk Heavy"/>
                <a:ea typeface="Akzidenz-Grotesk Heavy"/>
                <a:cs typeface="Akzidenz-Grotesk Heavy"/>
                <a:sym typeface="Akzidenz-Grotesk Heavy"/>
              </a:rPr>
              <a:t>TÍNH NĂNG</a:t>
            </a:r>
          </a:p>
        </p:txBody>
      </p:sp>
      <p:grpSp>
        <p:nvGrpSpPr>
          <p:cNvPr name="Group 3" id="3"/>
          <p:cNvGrpSpPr/>
          <p:nvPr/>
        </p:nvGrpSpPr>
        <p:grpSpPr>
          <a:xfrm rot="0">
            <a:off x="7443321" y="-452194"/>
            <a:ext cx="11188635" cy="11304538"/>
            <a:chOff x="0" y="0"/>
            <a:chExt cx="2946801" cy="2977327"/>
          </a:xfrm>
        </p:grpSpPr>
        <p:sp>
          <p:nvSpPr>
            <p:cNvPr name="Freeform 4" id="4"/>
            <p:cNvSpPr/>
            <p:nvPr/>
          </p:nvSpPr>
          <p:spPr>
            <a:xfrm flipH="false" flipV="false" rot="0">
              <a:off x="0" y="0"/>
              <a:ext cx="2946801" cy="2977327"/>
            </a:xfrm>
            <a:custGeom>
              <a:avLst/>
              <a:gdLst/>
              <a:ahLst/>
              <a:cxnLst/>
              <a:rect r="r" b="b" t="t" l="l"/>
              <a:pathLst>
                <a:path h="2977327" w="2946801">
                  <a:moveTo>
                    <a:pt x="0" y="0"/>
                  </a:moveTo>
                  <a:lnTo>
                    <a:pt x="2946801" y="0"/>
                  </a:lnTo>
                  <a:lnTo>
                    <a:pt x="2946801" y="2977327"/>
                  </a:lnTo>
                  <a:lnTo>
                    <a:pt x="0" y="2977327"/>
                  </a:lnTo>
                  <a:close/>
                </a:path>
              </a:pathLst>
            </a:custGeom>
            <a:solidFill>
              <a:srgbClr val="D9DFCE"/>
            </a:solidFill>
          </p:spPr>
        </p:sp>
        <p:sp>
          <p:nvSpPr>
            <p:cNvPr name="TextBox 5" id="5"/>
            <p:cNvSpPr txBox="true"/>
            <p:nvPr/>
          </p:nvSpPr>
          <p:spPr>
            <a:xfrm>
              <a:off x="0" y="-57150"/>
              <a:ext cx="2946801" cy="3034477"/>
            </a:xfrm>
            <a:prstGeom prst="rect">
              <a:avLst/>
            </a:prstGeom>
          </p:spPr>
          <p:txBody>
            <a:bodyPr anchor="ctr" rtlCol="false" tIns="50800" lIns="50800" bIns="50800" rIns="50800"/>
            <a:lstStyle/>
            <a:p>
              <a:pPr algn="ctr">
                <a:lnSpc>
                  <a:spcPts val="3500"/>
                </a:lnSpc>
              </a:pPr>
            </a:p>
          </p:txBody>
        </p:sp>
      </p:grpSp>
      <p:sp>
        <p:nvSpPr>
          <p:cNvPr name="Freeform 6" id="6"/>
          <p:cNvSpPr/>
          <p:nvPr/>
        </p:nvSpPr>
        <p:spPr>
          <a:xfrm flipH="false" flipV="false" rot="0">
            <a:off x="671386" y="9258300"/>
            <a:ext cx="2175726" cy="324381"/>
          </a:xfrm>
          <a:custGeom>
            <a:avLst/>
            <a:gdLst/>
            <a:ahLst/>
            <a:cxnLst/>
            <a:rect r="r" b="b" t="t" l="l"/>
            <a:pathLst>
              <a:path h="324381" w="2175726">
                <a:moveTo>
                  <a:pt x="0" y="0"/>
                </a:moveTo>
                <a:lnTo>
                  <a:pt x="2175726" y="0"/>
                </a:lnTo>
                <a:lnTo>
                  <a:pt x="2175726" y="324381"/>
                </a:lnTo>
                <a:lnTo>
                  <a:pt x="0" y="324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5672210" y="-4608313"/>
            <a:ext cx="10358923" cy="6768900"/>
            <a:chOff x="0" y="0"/>
            <a:chExt cx="1243885" cy="812800"/>
          </a:xfrm>
        </p:grpSpPr>
        <p:sp>
          <p:nvSpPr>
            <p:cNvPr name="Freeform 8" id="8"/>
            <p:cNvSpPr/>
            <p:nvPr/>
          </p:nvSpPr>
          <p:spPr>
            <a:xfrm flipH="false" flipV="false" rot="0">
              <a:off x="0" y="0"/>
              <a:ext cx="1243885" cy="812800"/>
            </a:xfrm>
            <a:custGeom>
              <a:avLst/>
              <a:gdLst/>
              <a:ahLst/>
              <a:cxnLst/>
              <a:rect r="r" b="b" t="t" l="l"/>
              <a:pathLst>
                <a:path h="812800" w="1243885">
                  <a:moveTo>
                    <a:pt x="621942" y="0"/>
                  </a:moveTo>
                  <a:cubicBezTo>
                    <a:pt x="278453" y="0"/>
                    <a:pt x="0" y="181951"/>
                    <a:pt x="0" y="406400"/>
                  </a:cubicBezTo>
                  <a:cubicBezTo>
                    <a:pt x="0" y="630849"/>
                    <a:pt x="278453" y="812800"/>
                    <a:pt x="621942" y="812800"/>
                  </a:cubicBezTo>
                  <a:cubicBezTo>
                    <a:pt x="965432" y="812800"/>
                    <a:pt x="1243885" y="630849"/>
                    <a:pt x="1243885" y="406400"/>
                  </a:cubicBezTo>
                  <a:cubicBezTo>
                    <a:pt x="1243885" y="181951"/>
                    <a:pt x="965432" y="0"/>
                    <a:pt x="621942" y="0"/>
                  </a:cubicBezTo>
                  <a:close/>
                </a:path>
              </a:pathLst>
            </a:custGeom>
            <a:solidFill>
              <a:srgbClr val="F5F8EE"/>
            </a:solidFill>
            <a:ln cap="sq">
              <a:noFill/>
              <a:prstDash val="solid"/>
              <a:miter/>
            </a:ln>
          </p:spPr>
        </p:sp>
        <p:sp>
          <p:nvSpPr>
            <p:cNvPr name="TextBox 9" id="9"/>
            <p:cNvSpPr txBox="true"/>
            <p:nvPr/>
          </p:nvSpPr>
          <p:spPr>
            <a:xfrm>
              <a:off x="116614" y="19050"/>
              <a:ext cx="1010656"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TextBox 10" id="10"/>
          <p:cNvSpPr txBox="true"/>
          <p:nvPr/>
        </p:nvSpPr>
        <p:spPr>
          <a:xfrm rot="0">
            <a:off x="8368163" y="802701"/>
            <a:ext cx="8758954" cy="8617790"/>
          </a:xfrm>
          <a:prstGeom prst="rect">
            <a:avLst/>
          </a:prstGeom>
        </p:spPr>
        <p:txBody>
          <a:bodyPr anchor="t" rtlCol="false" tIns="0" lIns="0" bIns="0" rIns="0">
            <a:spAutoFit/>
          </a:bodyPr>
          <a:lstStyle/>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Ad hoc query:</a:t>
            </a:r>
            <a:r>
              <a:rPr lang="en-US" sz="2462">
                <a:solidFill>
                  <a:srgbClr val="000000"/>
                </a:solidFill>
                <a:latin typeface="Montserrat"/>
                <a:ea typeface="Montserrat"/>
                <a:cs typeface="Montserrat"/>
                <a:sym typeface="Montserrat"/>
              </a:rPr>
              <a:t> Hỗ trợ truy vấn theo trường, phạm vi, biểu thức chính quy (regex), trả về toàn bộ hoặc một phần document</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Indexing:</a:t>
            </a:r>
            <a:r>
              <a:rPr lang="en-US" sz="2462">
                <a:solidFill>
                  <a:srgbClr val="000000"/>
                </a:solidFill>
                <a:latin typeface="Montserrat"/>
                <a:ea typeface="Montserrat"/>
                <a:cs typeface="Montserrat"/>
                <a:sym typeface="Montserrat"/>
              </a:rPr>
              <a:t> Tạo nhiều loại chỉ mục như: đơn trường, nhiều trường (compound), mảng (multikey), văn bản, không gian địa lý, hash</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Replication</a:t>
            </a:r>
            <a:r>
              <a:rPr lang="en-US" sz="2462">
                <a:solidFill>
                  <a:srgbClr val="000000"/>
                </a:solidFill>
                <a:latin typeface="Montserrat"/>
                <a:ea typeface="Montserrat"/>
                <a:cs typeface="Montserrat"/>
                <a:sym typeface="Montserrat"/>
              </a:rPr>
              <a:t>: Hỗ trợ replica set – có nhiều bản sao dữ liệu; nếu server chính bị lỗi, tự động chuyển đổi sang server phụ</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Document-oriented</a:t>
            </a:r>
            <a:r>
              <a:rPr lang="en-US" sz="2462">
                <a:solidFill>
                  <a:srgbClr val="000000"/>
                </a:solidFill>
                <a:latin typeface="Montserrat"/>
                <a:ea typeface="Montserrat"/>
                <a:cs typeface="Montserrat"/>
                <a:sym typeface="Montserrat"/>
              </a:rPr>
              <a:t>: Lưu trữ dưới dạng key-value trong BSON giúp linh hoạt hơn bảng RDBMS</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Scalability</a:t>
            </a:r>
            <a:r>
              <a:rPr lang="en-US" sz="2462">
                <a:solidFill>
                  <a:srgbClr val="000000"/>
                </a:solidFill>
                <a:latin typeface="Montserrat"/>
                <a:ea typeface="Montserrat"/>
                <a:cs typeface="Montserrat"/>
                <a:sym typeface="Montserrat"/>
              </a:rPr>
              <a:t>: Hỗ trợ sharding – phân tán dữ liệu qua nhiều server giúp xử lý dữ liệu lớn hiệu quả</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Aggregation</a:t>
            </a:r>
            <a:r>
              <a:rPr lang="en-US" sz="2462">
                <a:solidFill>
                  <a:srgbClr val="000000"/>
                </a:solidFill>
                <a:latin typeface="Montserrat"/>
                <a:ea typeface="Montserrat"/>
                <a:cs typeface="Montserrat"/>
                <a:sym typeface="Montserrat"/>
              </a:rPr>
              <a:t>: Tương tự GROUP BY trong SQL giúp xử lý và tính toán dữ liệu tập hợp</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Load balancing</a:t>
            </a:r>
            <a:r>
              <a:rPr lang="en-US" sz="2462">
                <a:solidFill>
                  <a:srgbClr val="000000"/>
                </a:solidFill>
                <a:latin typeface="Montserrat"/>
                <a:ea typeface="Montserrat"/>
                <a:cs typeface="Montserrat"/>
                <a:sym typeface="Montserrat"/>
              </a:rPr>
              <a:t>: Cân bằng tải đọc/ghi nhờ replica set và sharded cluster</a:t>
            </a:r>
          </a:p>
          <a:p>
            <a:pPr algn="l" marL="531739" indent="-265870" lvl="1">
              <a:lnSpc>
                <a:spcPts val="3448"/>
              </a:lnSpc>
              <a:buFont typeface="Arial"/>
              <a:buChar char="•"/>
            </a:pPr>
            <a:r>
              <a:rPr lang="en-US" b="true" sz="2462">
                <a:solidFill>
                  <a:srgbClr val="000000"/>
                </a:solidFill>
                <a:latin typeface="Montserrat Bold"/>
                <a:ea typeface="Montserrat Bold"/>
                <a:cs typeface="Montserrat Bold"/>
                <a:sym typeface="Montserrat Bold"/>
              </a:rPr>
              <a:t>Batch processing</a:t>
            </a:r>
            <a:r>
              <a:rPr lang="en-US" sz="2462">
                <a:solidFill>
                  <a:srgbClr val="000000"/>
                </a:solidFill>
                <a:latin typeface="Montserrat"/>
                <a:ea typeface="Montserrat"/>
                <a:cs typeface="Montserrat"/>
                <a:sym typeface="Montserrat"/>
              </a:rPr>
              <a:t>: Hỗ trợ xử lý hàng loạt qua các phương pháp như ghi bulk – giúp giảm chi phí mạng và tăng tốc độ</a:t>
            </a:r>
          </a:p>
        </p:txBody>
      </p:sp>
      <p:sp>
        <p:nvSpPr>
          <p:cNvPr name="TextBox 11" id="11"/>
          <p:cNvSpPr txBox="true"/>
          <p:nvPr/>
        </p:nvSpPr>
        <p:spPr>
          <a:xfrm rot="0">
            <a:off x="1028700" y="3115636"/>
            <a:ext cx="5917996" cy="4235553"/>
          </a:xfrm>
          <a:prstGeom prst="rect">
            <a:avLst/>
          </a:prstGeom>
        </p:spPr>
        <p:txBody>
          <a:bodyPr anchor="t" rtlCol="false" tIns="0" lIns="0" bIns="0" rIns="0">
            <a:spAutoFit/>
          </a:bodyPr>
          <a:lstStyle/>
          <a:p>
            <a:pPr algn="l" marL="0" indent="0" lvl="0">
              <a:lnSpc>
                <a:spcPts val="16794"/>
              </a:lnSpc>
              <a:spcBef>
                <a:spcPct val="0"/>
              </a:spcBef>
            </a:pPr>
            <a:r>
              <a:rPr lang="en-US" b="true" sz="14478">
                <a:solidFill>
                  <a:srgbClr val="5BA582"/>
                </a:solidFill>
                <a:latin typeface="Montserrat Ultra-Bold"/>
                <a:ea typeface="Montserrat Ultra-Bold"/>
                <a:cs typeface="Montserrat Ultra-Bold"/>
                <a:sym typeface="Montserrat Ultra-Bold"/>
              </a:rPr>
              <a:t>TÍNH NĂNG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171138" y="-261539"/>
            <a:ext cx="8785422" cy="10548539"/>
            <a:chOff x="0" y="0"/>
            <a:chExt cx="2313856" cy="2778216"/>
          </a:xfrm>
        </p:grpSpPr>
        <p:sp>
          <p:nvSpPr>
            <p:cNvPr name="Freeform 3" id="3"/>
            <p:cNvSpPr/>
            <p:nvPr/>
          </p:nvSpPr>
          <p:spPr>
            <a:xfrm flipH="false" flipV="false" rot="0">
              <a:off x="0" y="0"/>
              <a:ext cx="2313856" cy="2778216"/>
            </a:xfrm>
            <a:custGeom>
              <a:avLst/>
              <a:gdLst/>
              <a:ahLst/>
              <a:cxnLst/>
              <a:rect r="r" b="b" t="t" l="l"/>
              <a:pathLst>
                <a:path h="2778216" w="2313856">
                  <a:moveTo>
                    <a:pt x="0" y="0"/>
                  </a:moveTo>
                  <a:lnTo>
                    <a:pt x="2313856" y="0"/>
                  </a:lnTo>
                  <a:lnTo>
                    <a:pt x="2313856" y="2778216"/>
                  </a:lnTo>
                  <a:lnTo>
                    <a:pt x="0" y="2778216"/>
                  </a:lnTo>
                  <a:close/>
                </a:path>
              </a:pathLst>
            </a:custGeom>
            <a:solidFill>
              <a:srgbClr val="F5F8EE"/>
            </a:solidFill>
            <a:ln cap="sq">
              <a:noFill/>
              <a:prstDash val="solid"/>
              <a:miter/>
            </a:ln>
          </p:spPr>
        </p:sp>
        <p:sp>
          <p:nvSpPr>
            <p:cNvPr name="TextBox 4" id="4"/>
            <p:cNvSpPr txBox="true"/>
            <p:nvPr/>
          </p:nvSpPr>
          <p:spPr>
            <a:xfrm>
              <a:off x="0" y="-57150"/>
              <a:ext cx="2313856" cy="283536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0">
            <a:off x="-44949" y="2966720"/>
            <a:ext cx="10216088" cy="5977888"/>
          </a:xfrm>
          <a:custGeom>
            <a:avLst/>
            <a:gdLst/>
            <a:ahLst/>
            <a:cxnLst/>
            <a:rect r="r" b="b" t="t" l="l"/>
            <a:pathLst>
              <a:path h="5977888" w="10216088">
                <a:moveTo>
                  <a:pt x="0" y="0"/>
                </a:moveTo>
                <a:lnTo>
                  <a:pt x="10216087" y="0"/>
                </a:lnTo>
                <a:lnTo>
                  <a:pt x="10216087" y="5977888"/>
                </a:lnTo>
                <a:lnTo>
                  <a:pt x="0" y="5977888"/>
                </a:lnTo>
                <a:lnTo>
                  <a:pt x="0" y="0"/>
                </a:lnTo>
                <a:close/>
              </a:path>
            </a:pathLst>
          </a:custGeom>
          <a:blipFill>
            <a:blip r:embed="rId2"/>
            <a:stretch>
              <a:fillRect l="-661" t="0" r="-661" b="0"/>
            </a:stretch>
          </a:blipFill>
        </p:spPr>
      </p:sp>
      <p:sp>
        <p:nvSpPr>
          <p:cNvPr name="TextBox 6" id="6"/>
          <p:cNvSpPr txBox="true"/>
          <p:nvPr/>
        </p:nvSpPr>
        <p:spPr>
          <a:xfrm rot="0">
            <a:off x="550793" y="952500"/>
            <a:ext cx="10456890" cy="1045210"/>
          </a:xfrm>
          <a:prstGeom prst="rect">
            <a:avLst/>
          </a:prstGeom>
        </p:spPr>
        <p:txBody>
          <a:bodyPr anchor="t" rtlCol="false" tIns="0" lIns="0" bIns="0" rIns="0">
            <a:spAutoFit/>
          </a:bodyPr>
          <a:lstStyle/>
          <a:p>
            <a:pPr algn="l" marL="0" indent="0" lvl="0">
              <a:lnSpc>
                <a:spcPts val="8119"/>
              </a:lnSpc>
              <a:spcBef>
                <a:spcPct val="0"/>
              </a:spcBef>
            </a:pPr>
            <a:r>
              <a:rPr lang="en-US" b="true" sz="6999">
                <a:solidFill>
                  <a:srgbClr val="134E1A"/>
                </a:solidFill>
                <a:latin typeface="Montserrat Bold"/>
                <a:ea typeface="Montserrat Bold"/>
                <a:cs typeface="Montserrat Bold"/>
                <a:sym typeface="Montserrat Bold"/>
              </a:rPr>
              <a:t>KIẾN TRÚC HỆ THỐNG</a:t>
            </a:r>
          </a:p>
        </p:txBody>
      </p:sp>
      <p:sp>
        <p:nvSpPr>
          <p:cNvPr name="TextBox 7" id="7"/>
          <p:cNvSpPr txBox="true"/>
          <p:nvPr/>
        </p:nvSpPr>
        <p:spPr>
          <a:xfrm rot="0">
            <a:off x="10827550" y="1950085"/>
            <a:ext cx="7063742" cy="6994523"/>
          </a:xfrm>
          <a:prstGeom prst="rect">
            <a:avLst/>
          </a:prstGeom>
        </p:spPr>
        <p:txBody>
          <a:bodyPr anchor="t" rtlCol="false" tIns="0" lIns="0" bIns="0" rIns="0">
            <a:spAutoFit/>
          </a:bodyPr>
          <a:lstStyle/>
          <a:p>
            <a:pPr algn="l">
              <a:lnSpc>
                <a:spcPts val="3500"/>
              </a:lnSpc>
              <a:spcBef>
                <a:spcPct val="0"/>
              </a:spcBef>
            </a:pPr>
            <a:r>
              <a:rPr lang="en-US" b="true" sz="2500">
                <a:solidFill>
                  <a:srgbClr val="322A2A"/>
                </a:solidFill>
                <a:latin typeface="Montserrat Bold"/>
                <a:ea typeface="Montserrat Bold"/>
                <a:cs typeface="Montserrat Bold"/>
                <a:sym typeface="Montserrat Bold"/>
              </a:rPr>
              <a:t>Document</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Là đơn vị lưu trữ nhỏ nhất, tương đương row trong RDBMS.</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Dữ liệu dưới dạng cặp key-value, cấu trúc linh hoạt, không bắt buộc giống nhau giữa các document.</a:t>
            </a:r>
          </a:p>
          <a:p>
            <a:pPr algn="l">
              <a:lnSpc>
                <a:spcPts val="3500"/>
              </a:lnSpc>
              <a:spcBef>
                <a:spcPct val="0"/>
              </a:spcBef>
            </a:pPr>
            <a:r>
              <a:rPr lang="en-US" b="true" sz="2500">
                <a:solidFill>
                  <a:srgbClr val="322A2A"/>
                </a:solidFill>
                <a:latin typeface="Montserrat Bold"/>
                <a:ea typeface="Montserrat Bold"/>
                <a:cs typeface="Montserrat Bold"/>
                <a:sym typeface="Montserrat Bold"/>
              </a:rPr>
              <a:t>Collection</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Là tập hợp các document, tương đương table trong RDBMS.</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Không có schema cố định, document bên trong có thể khác nhau về cấu trúc.</a:t>
            </a:r>
          </a:p>
          <a:p>
            <a:pPr algn="l">
              <a:lnSpc>
                <a:spcPts val="3500"/>
              </a:lnSpc>
              <a:spcBef>
                <a:spcPct val="0"/>
              </a:spcBef>
            </a:pPr>
            <a:r>
              <a:rPr lang="en-US" b="true" sz="2500">
                <a:solidFill>
                  <a:srgbClr val="322A2A"/>
                </a:solidFill>
                <a:latin typeface="Montserrat Bold"/>
                <a:ea typeface="Montserrat Bold"/>
                <a:cs typeface="Montserrat Bold"/>
                <a:sym typeface="Montserrat Bold"/>
              </a:rPr>
              <a:t>Database</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Là vùng lưu trữ chứa nhiều collection.</a:t>
            </a:r>
          </a:p>
          <a:p>
            <a:pPr algn="l">
              <a:lnSpc>
                <a:spcPts val="3500"/>
              </a:lnSpc>
              <a:spcBef>
                <a:spcPct val="0"/>
              </a:spcBef>
            </a:pPr>
            <a:r>
              <a:rPr lang="en-US" b="true" sz="2500">
                <a:solidFill>
                  <a:srgbClr val="322A2A"/>
                </a:solidFill>
                <a:latin typeface="Montserrat Medium"/>
                <a:ea typeface="Montserrat Medium"/>
                <a:cs typeface="Montserrat Medium"/>
                <a:sym typeface="Montserrat Medium"/>
              </a:rPr>
              <a:t>Một MongoDB server có thể có nhiều database, số lượng chỉ bị giới hạn bởi tài nguyên hệ thống.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TextBox 2" id="2"/>
          <p:cNvSpPr txBox="true"/>
          <p:nvPr/>
        </p:nvSpPr>
        <p:spPr>
          <a:xfrm rot="0">
            <a:off x="7640254" y="5421637"/>
            <a:ext cx="9619046" cy="2613023"/>
          </a:xfrm>
          <a:prstGeom prst="rect">
            <a:avLst/>
          </a:prstGeom>
        </p:spPr>
        <p:txBody>
          <a:bodyPr anchor="t" rtlCol="false" tIns="0" lIns="0" bIns="0" rIns="0">
            <a:spAutoFit/>
          </a:bodyPr>
          <a:lstStyle/>
          <a:p>
            <a:pPr algn="just">
              <a:lnSpc>
                <a:spcPts val="3500"/>
              </a:lnSpc>
            </a:pPr>
            <a:r>
              <a:rPr lang="en-US" sz="2500" b="true">
                <a:solidFill>
                  <a:srgbClr val="322A2A"/>
                </a:solidFill>
                <a:latin typeface="Montserrat Semi-Bold"/>
                <a:ea typeface="Montserrat Semi-Bold"/>
                <a:cs typeface="Montserrat Semi-Bold"/>
                <a:sym typeface="Montserrat Semi-Bold"/>
              </a:rPr>
              <a:t>MongoDB là cơ sở dữ liệu hướng tài liệu, cho phép lưu trữ linh hoạt cả dữ liệu có và không có cấu trúc, dễ dùng với các ngôn ngữ lập trình hiện đại. Nhờ kiến trúc scale-out, MongoDB hỗ trợ mở rộng tốt theo chiều ngang và dọc, phù hợp với các ứng dụng cần phát triển nhanh, quy mô lớn và thay đổi thường xuyên.</a:t>
            </a:r>
          </a:p>
        </p:txBody>
      </p:sp>
      <p:sp>
        <p:nvSpPr>
          <p:cNvPr name="TextBox 3" id="3"/>
          <p:cNvSpPr txBox="true"/>
          <p:nvPr/>
        </p:nvSpPr>
        <p:spPr>
          <a:xfrm rot="0">
            <a:off x="7640254" y="1814386"/>
            <a:ext cx="8135027" cy="2219325"/>
          </a:xfrm>
          <a:prstGeom prst="rect">
            <a:avLst/>
          </a:prstGeom>
        </p:spPr>
        <p:txBody>
          <a:bodyPr anchor="t" rtlCol="false" tIns="0" lIns="0" bIns="0" rIns="0">
            <a:spAutoFit/>
          </a:bodyPr>
          <a:lstStyle/>
          <a:p>
            <a:pPr algn="l" marL="0" indent="0" lvl="0">
              <a:lnSpc>
                <a:spcPts val="17400"/>
              </a:lnSpc>
              <a:spcBef>
                <a:spcPct val="0"/>
              </a:spcBef>
            </a:pPr>
            <a:r>
              <a:rPr lang="en-US" b="true" sz="15000">
                <a:solidFill>
                  <a:srgbClr val="318575"/>
                </a:solidFill>
                <a:latin typeface="Montserrat Ultra-Bold"/>
                <a:ea typeface="Montserrat Ultra-Bold"/>
                <a:cs typeface="Montserrat Ultra-Bold"/>
                <a:sym typeface="Montserrat Ultra-Bold"/>
              </a:rPr>
              <a:t>WHY?</a:t>
            </a:r>
          </a:p>
        </p:txBody>
      </p:sp>
      <p:grpSp>
        <p:nvGrpSpPr>
          <p:cNvPr name="Group 4" id="4"/>
          <p:cNvGrpSpPr/>
          <p:nvPr/>
        </p:nvGrpSpPr>
        <p:grpSpPr>
          <a:xfrm rot="0">
            <a:off x="1117148" y="3486251"/>
            <a:ext cx="5483984" cy="6800749"/>
            <a:chOff x="0" y="0"/>
            <a:chExt cx="1444341" cy="1791144"/>
          </a:xfrm>
        </p:grpSpPr>
        <p:sp>
          <p:nvSpPr>
            <p:cNvPr name="Freeform 5" id="5"/>
            <p:cNvSpPr/>
            <p:nvPr/>
          </p:nvSpPr>
          <p:spPr>
            <a:xfrm flipH="false" flipV="false" rot="0">
              <a:off x="0" y="0"/>
              <a:ext cx="1444341" cy="1791144"/>
            </a:xfrm>
            <a:custGeom>
              <a:avLst/>
              <a:gdLst/>
              <a:ahLst/>
              <a:cxnLst/>
              <a:rect r="r" b="b" t="t" l="l"/>
              <a:pathLst>
                <a:path h="1791144" w="1444341">
                  <a:moveTo>
                    <a:pt x="0" y="0"/>
                  </a:moveTo>
                  <a:lnTo>
                    <a:pt x="1444341" y="0"/>
                  </a:lnTo>
                  <a:lnTo>
                    <a:pt x="1444341" y="1791144"/>
                  </a:lnTo>
                  <a:lnTo>
                    <a:pt x="0" y="1791144"/>
                  </a:lnTo>
                  <a:close/>
                </a:path>
              </a:pathLst>
            </a:custGeom>
            <a:solidFill>
              <a:srgbClr val="D9DFCE"/>
            </a:solidFill>
          </p:spPr>
        </p:sp>
        <p:sp>
          <p:nvSpPr>
            <p:cNvPr name="TextBox 6" id="6"/>
            <p:cNvSpPr txBox="true"/>
            <p:nvPr/>
          </p:nvSpPr>
          <p:spPr>
            <a:xfrm>
              <a:off x="0" y="-57150"/>
              <a:ext cx="1444341" cy="1848294"/>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605193" y="370936"/>
            <a:ext cx="8635613" cy="8624819"/>
          </a:xfrm>
          <a:custGeom>
            <a:avLst/>
            <a:gdLst/>
            <a:ahLst/>
            <a:cxnLst/>
            <a:rect r="r" b="b" t="t" l="l"/>
            <a:pathLst>
              <a:path h="8624819" w="8635613">
                <a:moveTo>
                  <a:pt x="0" y="0"/>
                </a:moveTo>
                <a:lnTo>
                  <a:pt x="8635613" y="0"/>
                </a:lnTo>
                <a:lnTo>
                  <a:pt x="8635613" y="8624819"/>
                </a:lnTo>
                <a:lnTo>
                  <a:pt x="0" y="8624819"/>
                </a:lnTo>
                <a:lnTo>
                  <a:pt x="0" y="0"/>
                </a:lnTo>
                <a:close/>
              </a:path>
            </a:pathLst>
          </a:custGeom>
          <a:blipFill>
            <a:blip r:embed="rId2"/>
            <a:stretch>
              <a:fillRect l="0" t="0" r="0" b="0"/>
            </a:stretch>
          </a:blipFill>
        </p:spPr>
      </p:sp>
      <p:grpSp>
        <p:nvGrpSpPr>
          <p:cNvPr name="Group 8" id="8"/>
          <p:cNvGrpSpPr/>
          <p:nvPr/>
        </p:nvGrpSpPr>
        <p:grpSpPr>
          <a:xfrm rot="0">
            <a:off x="1117148" y="1028700"/>
            <a:ext cx="5483984" cy="548398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500" t="0" r="-12500" b="0"/>
              </a:stretch>
            </a:blipFill>
          </p:spPr>
        </p:sp>
      </p:grpSp>
      <p:sp>
        <p:nvSpPr>
          <p:cNvPr name="Freeform 10" id="10"/>
          <p:cNvSpPr/>
          <p:nvPr/>
        </p:nvSpPr>
        <p:spPr>
          <a:xfrm flipH="false" flipV="false" rot="0">
            <a:off x="7640254" y="4104533"/>
            <a:ext cx="2175726" cy="324381"/>
          </a:xfrm>
          <a:custGeom>
            <a:avLst/>
            <a:gdLst/>
            <a:ahLst/>
            <a:cxnLst/>
            <a:rect r="r" b="b" t="t" l="l"/>
            <a:pathLst>
              <a:path h="324381" w="2175726">
                <a:moveTo>
                  <a:pt x="0" y="0"/>
                </a:moveTo>
                <a:lnTo>
                  <a:pt x="2175725" y="0"/>
                </a:lnTo>
                <a:lnTo>
                  <a:pt x="2175725" y="324381"/>
                </a:lnTo>
                <a:lnTo>
                  <a:pt x="0" y="3243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3948384" y="-2795743"/>
            <a:ext cx="6768900" cy="67689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TextBox 2" id="2"/>
          <p:cNvSpPr txBox="true"/>
          <p:nvPr/>
        </p:nvSpPr>
        <p:spPr>
          <a:xfrm rot="0">
            <a:off x="7390911" y="4860616"/>
            <a:ext cx="9619046" cy="4789803"/>
          </a:xfrm>
          <a:prstGeom prst="rect">
            <a:avLst/>
          </a:prstGeom>
        </p:spPr>
        <p:txBody>
          <a:bodyPr anchor="t" rtlCol="false" tIns="0" lIns="0" bIns="0" rIns="0">
            <a:spAutoFit/>
          </a:bodyPr>
          <a:lstStyle/>
          <a:p>
            <a:pPr algn="just" marL="496585" indent="-248293" lvl="1">
              <a:lnSpc>
                <a:spcPts val="3220"/>
              </a:lnSpc>
              <a:buFont typeface="Arial"/>
              <a:buChar char="•"/>
            </a:pPr>
            <a:r>
              <a:rPr lang="en-US" b="true" sz="2300">
                <a:solidFill>
                  <a:srgbClr val="322A2A"/>
                </a:solidFill>
                <a:latin typeface="Montserrat Bold"/>
                <a:ea typeface="Montserrat Bold"/>
                <a:cs typeface="Montserrat Bold"/>
                <a:sym typeface="Montserrat Bold"/>
              </a:rPr>
              <a:t>Cần tích hợp dữ liệu đa nguồn</a:t>
            </a:r>
            <a:r>
              <a:rPr lang="en-US" sz="2300">
                <a:solidFill>
                  <a:srgbClr val="322A2A"/>
                </a:solidFill>
                <a:latin typeface="Montserrat"/>
                <a:ea typeface="Montserrat"/>
                <a:cs typeface="Montserrat"/>
                <a:sym typeface="Montserrat"/>
              </a:rPr>
              <a:t>: MongoDB phù hợp khi cần kết hợp dữ liệu từ nhiều hệ thống khác nhau nhờ mô hình dữ liệu linh hoạt.</a:t>
            </a:r>
          </a:p>
          <a:p>
            <a:pPr algn="just" marL="496585" indent="-248293" lvl="1">
              <a:lnSpc>
                <a:spcPts val="3220"/>
              </a:lnSpc>
              <a:buFont typeface="Arial"/>
              <a:buChar char="•"/>
            </a:pPr>
            <a:r>
              <a:rPr lang="en-US" b="true" sz="2300">
                <a:solidFill>
                  <a:srgbClr val="322A2A"/>
                </a:solidFill>
                <a:latin typeface="Montserrat Bold"/>
                <a:ea typeface="Montserrat Bold"/>
                <a:cs typeface="Montserrat Bold"/>
                <a:sym typeface="Montserrat Bold"/>
              </a:rPr>
              <a:t>Dữ liệu phức tạp và thay đổi thường xuyên</a:t>
            </a:r>
            <a:r>
              <a:rPr lang="en-US" sz="2300">
                <a:solidFill>
                  <a:srgbClr val="322A2A"/>
                </a:solidFill>
                <a:latin typeface="Montserrat"/>
                <a:ea typeface="Montserrat"/>
                <a:cs typeface="Montserrat"/>
                <a:sym typeface="Montserrat"/>
              </a:rPr>
              <a:t>: Hỗ trợ tốt cấu trúc lồng nhau, dễ thích ứng khi dữ liệu thay đổi.</a:t>
            </a:r>
          </a:p>
          <a:p>
            <a:pPr algn="just" marL="496585" indent="-248293" lvl="1">
              <a:lnSpc>
                <a:spcPts val="3220"/>
              </a:lnSpc>
              <a:buFont typeface="Arial"/>
              <a:buChar char="•"/>
            </a:pPr>
            <a:r>
              <a:rPr lang="en-US" b="true" sz="2300">
                <a:solidFill>
                  <a:srgbClr val="322A2A"/>
                </a:solidFill>
                <a:latin typeface="Montserrat Bold"/>
                <a:ea typeface="Montserrat Bold"/>
                <a:cs typeface="Montserrat Bold"/>
                <a:sym typeface="Montserrat Bold"/>
              </a:rPr>
              <a:t>Ứng dụng cần hiệu năng cao</a:t>
            </a:r>
            <a:r>
              <a:rPr lang="en-US" sz="2300">
                <a:solidFill>
                  <a:srgbClr val="322A2A"/>
                </a:solidFill>
                <a:latin typeface="Montserrat"/>
                <a:ea typeface="Montserrat"/>
                <a:cs typeface="Montserrat"/>
                <a:sym typeface="Montserrat"/>
              </a:rPr>
              <a:t>: Xử lý tốt khối lượng lớn dữ liệu và giao dịch nhờ khả năng mở rộng ngang.</a:t>
            </a:r>
          </a:p>
          <a:p>
            <a:pPr algn="just" marL="496585" indent="-248293" lvl="1">
              <a:lnSpc>
                <a:spcPts val="3220"/>
              </a:lnSpc>
              <a:buFont typeface="Arial"/>
              <a:buChar char="•"/>
            </a:pPr>
            <a:r>
              <a:rPr lang="en-US" b="true" sz="2300">
                <a:solidFill>
                  <a:srgbClr val="322A2A"/>
                </a:solidFill>
                <a:latin typeface="Montserrat Bold"/>
                <a:ea typeface="Montserrat Bold"/>
                <a:cs typeface="Montserrat Bold"/>
                <a:sym typeface="Montserrat Bold"/>
              </a:rPr>
              <a:t>Triển khai linh hoạt:</a:t>
            </a:r>
            <a:r>
              <a:rPr lang="en-US" sz="2300">
                <a:solidFill>
                  <a:srgbClr val="322A2A"/>
                </a:solidFill>
                <a:latin typeface="Montserrat"/>
                <a:ea typeface="Montserrat"/>
                <a:cs typeface="Montserrat"/>
                <a:sym typeface="Montserrat"/>
              </a:rPr>
              <a:t> Có thể chạy cục bộ, trong trung tâm dữ liệu hoặc trên đám mây (MongoDB Atlas).</a:t>
            </a:r>
          </a:p>
          <a:p>
            <a:pPr algn="just" marL="496585" indent="-248293" lvl="1">
              <a:lnSpc>
                <a:spcPts val="3220"/>
              </a:lnSpc>
              <a:buFont typeface="Arial"/>
              <a:buChar char="•"/>
            </a:pPr>
            <a:r>
              <a:rPr lang="en-US" b="true" sz="2300">
                <a:solidFill>
                  <a:srgbClr val="322A2A"/>
                </a:solidFill>
                <a:latin typeface="Montserrat Bold"/>
                <a:ea typeface="Montserrat Bold"/>
                <a:cs typeface="Montserrat Bold"/>
                <a:sym typeface="Montserrat Bold"/>
              </a:rPr>
              <a:t>Hỗ trợ phát triển linh hoạt</a:t>
            </a:r>
            <a:r>
              <a:rPr lang="en-US" sz="2300">
                <a:solidFill>
                  <a:srgbClr val="322A2A"/>
                </a:solidFill>
                <a:latin typeface="Montserrat"/>
                <a:ea typeface="Montserrat"/>
                <a:cs typeface="Montserrat"/>
                <a:sym typeface="Montserrat"/>
              </a:rPr>
              <a:t>: Lập trình viên dễ làm chủ dữ liệu, cộng tác nhóm hiệu quả hơn.</a:t>
            </a:r>
          </a:p>
          <a:p>
            <a:pPr algn="just">
              <a:lnSpc>
                <a:spcPts val="3220"/>
              </a:lnSpc>
            </a:pPr>
          </a:p>
        </p:txBody>
      </p:sp>
      <p:sp>
        <p:nvSpPr>
          <p:cNvPr name="TextBox 3" id="3"/>
          <p:cNvSpPr txBox="true"/>
          <p:nvPr/>
        </p:nvSpPr>
        <p:spPr>
          <a:xfrm rot="0">
            <a:off x="7640254" y="1814386"/>
            <a:ext cx="8135027" cy="2219325"/>
          </a:xfrm>
          <a:prstGeom prst="rect">
            <a:avLst/>
          </a:prstGeom>
        </p:spPr>
        <p:txBody>
          <a:bodyPr anchor="t" rtlCol="false" tIns="0" lIns="0" bIns="0" rIns="0">
            <a:spAutoFit/>
          </a:bodyPr>
          <a:lstStyle/>
          <a:p>
            <a:pPr algn="l" marL="0" indent="0" lvl="0">
              <a:lnSpc>
                <a:spcPts val="17400"/>
              </a:lnSpc>
              <a:spcBef>
                <a:spcPct val="0"/>
              </a:spcBef>
            </a:pPr>
            <a:r>
              <a:rPr lang="en-US" b="true" sz="15000">
                <a:solidFill>
                  <a:srgbClr val="318575"/>
                </a:solidFill>
                <a:latin typeface="Montserrat Ultra-Bold"/>
                <a:ea typeface="Montserrat Ultra-Bold"/>
                <a:cs typeface="Montserrat Ultra-Bold"/>
                <a:sym typeface="Montserrat Ultra-Bold"/>
              </a:rPr>
              <a:t>WHEN?</a:t>
            </a:r>
          </a:p>
        </p:txBody>
      </p:sp>
      <p:grpSp>
        <p:nvGrpSpPr>
          <p:cNvPr name="Group 4" id="4"/>
          <p:cNvGrpSpPr/>
          <p:nvPr/>
        </p:nvGrpSpPr>
        <p:grpSpPr>
          <a:xfrm rot="0">
            <a:off x="1117148" y="3486251"/>
            <a:ext cx="5483984" cy="6800749"/>
            <a:chOff x="0" y="0"/>
            <a:chExt cx="1444341" cy="1791144"/>
          </a:xfrm>
        </p:grpSpPr>
        <p:sp>
          <p:nvSpPr>
            <p:cNvPr name="Freeform 5" id="5"/>
            <p:cNvSpPr/>
            <p:nvPr/>
          </p:nvSpPr>
          <p:spPr>
            <a:xfrm flipH="false" flipV="false" rot="0">
              <a:off x="0" y="0"/>
              <a:ext cx="1444341" cy="1791144"/>
            </a:xfrm>
            <a:custGeom>
              <a:avLst/>
              <a:gdLst/>
              <a:ahLst/>
              <a:cxnLst/>
              <a:rect r="r" b="b" t="t" l="l"/>
              <a:pathLst>
                <a:path h="1791144" w="1444341">
                  <a:moveTo>
                    <a:pt x="0" y="0"/>
                  </a:moveTo>
                  <a:lnTo>
                    <a:pt x="1444341" y="0"/>
                  </a:lnTo>
                  <a:lnTo>
                    <a:pt x="1444341" y="1791144"/>
                  </a:lnTo>
                  <a:lnTo>
                    <a:pt x="0" y="1791144"/>
                  </a:lnTo>
                  <a:close/>
                </a:path>
              </a:pathLst>
            </a:custGeom>
            <a:solidFill>
              <a:srgbClr val="D9DFCE"/>
            </a:solidFill>
          </p:spPr>
        </p:sp>
        <p:sp>
          <p:nvSpPr>
            <p:cNvPr name="TextBox 6" id="6"/>
            <p:cNvSpPr txBox="true"/>
            <p:nvPr/>
          </p:nvSpPr>
          <p:spPr>
            <a:xfrm>
              <a:off x="0" y="-57150"/>
              <a:ext cx="1444341" cy="1848294"/>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605193" y="370936"/>
            <a:ext cx="8635613" cy="8624819"/>
          </a:xfrm>
          <a:custGeom>
            <a:avLst/>
            <a:gdLst/>
            <a:ahLst/>
            <a:cxnLst/>
            <a:rect r="r" b="b" t="t" l="l"/>
            <a:pathLst>
              <a:path h="8624819" w="8635613">
                <a:moveTo>
                  <a:pt x="0" y="0"/>
                </a:moveTo>
                <a:lnTo>
                  <a:pt x="8635613" y="0"/>
                </a:lnTo>
                <a:lnTo>
                  <a:pt x="8635613" y="8624819"/>
                </a:lnTo>
                <a:lnTo>
                  <a:pt x="0" y="8624819"/>
                </a:lnTo>
                <a:lnTo>
                  <a:pt x="0" y="0"/>
                </a:lnTo>
                <a:close/>
              </a:path>
            </a:pathLst>
          </a:custGeom>
          <a:blipFill>
            <a:blip r:embed="rId2"/>
            <a:stretch>
              <a:fillRect l="0" t="0" r="0" b="0"/>
            </a:stretch>
          </a:blipFill>
        </p:spPr>
      </p:sp>
      <p:grpSp>
        <p:nvGrpSpPr>
          <p:cNvPr name="Group 8" id="8"/>
          <p:cNvGrpSpPr/>
          <p:nvPr/>
        </p:nvGrpSpPr>
        <p:grpSpPr>
          <a:xfrm rot="0">
            <a:off x="1117148" y="1028700"/>
            <a:ext cx="5483984" cy="548398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500" t="0" r="-12500" b="0"/>
              </a:stretch>
            </a:blipFill>
          </p:spPr>
        </p:sp>
      </p:grpSp>
      <p:sp>
        <p:nvSpPr>
          <p:cNvPr name="Freeform 10" id="10"/>
          <p:cNvSpPr/>
          <p:nvPr/>
        </p:nvSpPr>
        <p:spPr>
          <a:xfrm flipH="false" flipV="false" rot="0">
            <a:off x="7640254" y="4104533"/>
            <a:ext cx="2175726" cy="324381"/>
          </a:xfrm>
          <a:custGeom>
            <a:avLst/>
            <a:gdLst/>
            <a:ahLst/>
            <a:cxnLst/>
            <a:rect r="r" b="b" t="t" l="l"/>
            <a:pathLst>
              <a:path h="324381" w="2175726">
                <a:moveTo>
                  <a:pt x="0" y="0"/>
                </a:moveTo>
                <a:lnTo>
                  <a:pt x="2175725" y="0"/>
                </a:lnTo>
                <a:lnTo>
                  <a:pt x="2175725" y="324381"/>
                </a:lnTo>
                <a:lnTo>
                  <a:pt x="0" y="3243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5070427" y="-3384450"/>
            <a:ext cx="6768900" cy="67689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28700" y="3211540"/>
            <a:ext cx="874849" cy="874849"/>
            <a:chOff x="0" y="0"/>
            <a:chExt cx="230413" cy="230413"/>
          </a:xfrm>
        </p:grpSpPr>
        <p:sp>
          <p:nvSpPr>
            <p:cNvPr name="Freeform 3" id="3"/>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4" id="4"/>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0" y="9984552"/>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D9DFCE"/>
            </a:solidFill>
          </p:spPr>
        </p:sp>
        <p:sp>
          <p:nvSpPr>
            <p:cNvPr name="TextBox 7" id="7"/>
            <p:cNvSpPr txBox="true"/>
            <p:nvPr/>
          </p:nvSpPr>
          <p:spPr>
            <a:xfrm>
              <a:off x="0" y="-47625"/>
              <a:ext cx="4816593" cy="318558"/>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028700" y="4286140"/>
            <a:ext cx="874849" cy="874849"/>
            <a:chOff x="0" y="0"/>
            <a:chExt cx="230413" cy="230413"/>
          </a:xfrm>
        </p:grpSpPr>
        <p:sp>
          <p:nvSpPr>
            <p:cNvPr name="Freeform 9" id="9"/>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10" id="10"/>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11" id="11"/>
          <p:cNvGrpSpPr/>
          <p:nvPr/>
        </p:nvGrpSpPr>
        <p:grpSpPr>
          <a:xfrm rot="0">
            <a:off x="1028700" y="5360739"/>
            <a:ext cx="874849" cy="874849"/>
            <a:chOff x="0" y="0"/>
            <a:chExt cx="230413" cy="230413"/>
          </a:xfrm>
        </p:grpSpPr>
        <p:sp>
          <p:nvSpPr>
            <p:cNvPr name="Freeform 12" id="12"/>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13" id="13"/>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14" id="14"/>
          <p:cNvSpPr/>
          <p:nvPr/>
        </p:nvSpPr>
        <p:spPr>
          <a:xfrm flipH="false" flipV="false" rot="0">
            <a:off x="1319861" y="3430295"/>
            <a:ext cx="292528" cy="437338"/>
          </a:xfrm>
          <a:custGeom>
            <a:avLst/>
            <a:gdLst/>
            <a:ahLst/>
            <a:cxnLst/>
            <a:rect r="r" b="b" t="t" l="l"/>
            <a:pathLst>
              <a:path h="437338" w="292528">
                <a:moveTo>
                  <a:pt x="0" y="0"/>
                </a:moveTo>
                <a:lnTo>
                  <a:pt x="292528" y="0"/>
                </a:lnTo>
                <a:lnTo>
                  <a:pt x="292528" y="437339"/>
                </a:lnTo>
                <a:lnTo>
                  <a:pt x="0" y="4373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19861" y="4504895"/>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319861" y="5579495"/>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433594" y="1149120"/>
            <a:ext cx="7591205" cy="739775"/>
          </a:xfrm>
          <a:prstGeom prst="rect">
            <a:avLst/>
          </a:prstGeom>
        </p:spPr>
        <p:txBody>
          <a:bodyPr anchor="t" rtlCol="false" tIns="0" lIns="0" bIns="0" rIns="0">
            <a:spAutoFit/>
          </a:bodyPr>
          <a:lstStyle/>
          <a:p>
            <a:pPr algn="l" marL="0" indent="0" lvl="0">
              <a:lnSpc>
                <a:spcPts val="5800"/>
              </a:lnSpc>
              <a:spcBef>
                <a:spcPct val="0"/>
              </a:spcBef>
            </a:pPr>
            <a:r>
              <a:rPr lang="en-US" b="true" sz="5000">
                <a:solidFill>
                  <a:srgbClr val="3A3737"/>
                </a:solidFill>
                <a:latin typeface="Montserrat Bold"/>
                <a:ea typeface="Montserrat Bold"/>
                <a:cs typeface="Montserrat Bold"/>
                <a:sym typeface="Montserrat Bold"/>
              </a:rPr>
              <a:t>ƯU ĐIỂM</a:t>
            </a:r>
          </a:p>
        </p:txBody>
      </p:sp>
      <p:sp>
        <p:nvSpPr>
          <p:cNvPr name="TextBox 18" id="18"/>
          <p:cNvSpPr txBox="true"/>
          <p:nvPr/>
        </p:nvSpPr>
        <p:spPr>
          <a:xfrm rot="0">
            <a:off x="2181355" y="3445360"/>
            <a:ext cx="4935932"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Dễ sử dụng cho lập trình viên</a:t>
            </a:r>
          </a:p>
        </p:txBody>
      </p:sp>
      <p:sp>
        <p:nvSpPr>
          <p:cNvPr name="TextBox 19" id="19"/>
          <p:cNvSpPr txBox="true"/>
          <p:nvPr/>
        </p:nvSpPr>
        <p:spPr>
          <a:xfrm rot="0">
            <a:off x="2181355" y="4564018"/>
            <a:ext cx="2362628"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 Hiệu quả</a:t>
            </a:r>
          </a:p>
        </p:txBody>
      </p:sp>
      <p:grpSp>
        <p:nvGrpSpPr>
          <p:cNvPr name="Group 20" id="20"/>
          <p:cNvGrpSpPr/>
          <p:nvPr/>
        </p:nvGrpSpPr>
        <p:grpSpPr>
          <a:xfrm rot="0">
            <a:off x="1028700" y="6455997"/>
            <a:ext cx="886432" cy="886432"/>
            <a:chOff x="0" y="0"/>
            <a:chExt cx="230413" cy="230413"/>
          </a:xfrm>
        </p:grpSpPr>
        <p:sp>
          <p:nvSpPr>
            <p:cNvPr name="Freeform 21" id="21"/>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22" id="22"/>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23" id="23"/>
          <p:cNvGrpSpPr/>
          <p:nvPr/>
        </p:nvGrpSpPr>
        <p:grpSpPr>
          <a:xfrm rot="0">
            <a:off x="1028700" y="7544825"/>
            <a:ext cx="886432" cy="886432"/>
            <a:chOff x="0" y="0"/>
            <a:chExt cx="230413" cy="230413"/>
          </a:xfrm>
        </p:grpSpPr>
        <p:sp>
          <p:nvSpPr>
            <p:cNvPr name="Freeform 24" id="24"/>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25" id="25"/>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26" id="26"/>
          <p:cNvSpPr/>
          <p:nvPr/>
        </p:nvSpPr>
        <p:spPr>
          <a:xfrm flipH="false" flipV="false" rot="0">
            <a:off x="1323716" y="6677649"/>
            <a:ext cx="296401" cy="443129"/>
          </a:xfrm>
          <a:custGeom>
            <a:avLst/>
            <a:gdLst/>
            <a:ahLst/>
            <a:cxnLst/>
            <a:rect r="r" b="b" t="t" l="l"/>
            <a:pathLst>
              <a:path h="443129" w="296401">
                <a:moveTo>
                  <a:pt x="0" y="0"/>
                </a:moveTo>
                <a:lnTo>
                  <a:pt x="296401" y="0"/>
                </a:lnTo>
                <a:lnTo>
                  <a:pt x="296401" y="443129"/>
                </a:lnTo>
                <a:lnTo>
                  <a:pt x="0" y="443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323716" y="7766477"/>
            <a:ext cx="296401" cy="443129"/>
          </a:xfrm>
          <a:custGeom>
            <a:avLst/>
            <a:gdLst/>
            <a:ahLst/>
            <a:cxnLst/>
            <a:rect r="r" b="b" t="t" l="l"/>
            <a:pathLst>
              <a:path h="443129" w="296401">
                <a:moveTo>
                  <a:pt x="0" y="0"/>
                </a:moveTo>
                <a:lnTo>
                  <a:pt x="296401" y="0"/>
                </a:lnTo>
                <a:lnTo>
                  <a:pt x="296401" y="443128"/>
                </a:lnTo>
                <a:lnTo>
                  <a:pt x="0" y="443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8" id="28"/>
          <p:cNvSpPr txBox="true"/>
          <p:nvPr/>
        </p:nvSpPr>
        <p:spPr>
          <a:xfrm rot="0">
            <a:off x="2181355" y="6686073"/>
            <a:ext cx="4647455"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Ngôn ngữ truy vấn đơn giản</a:t>
            </a:r>
          </a:p>
        </p:txBody>
      </p:sp>
      <p:sp>
        <p:nvSpPr>
          <p:cNvPr name="TextBox 29" id="29"/>
          <p:cNvSpPr txBox="true"/>
          <p:nvPr/>
        </p:nvSpPr>
        <p:spPr>
          <a:xfrm rot="0">
            <a:off x="2181355" y="7718852"/>
            <a:ext cx="5500192"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Hỗ trợ cloud tốt (Cloud-native)</a:t>
            </a:r>
          </a:p>
        </p:txBody>
      </p:sp>
      <p:sp>
        <p:nvSpPr>
          <p:cNvPr name="TextBox 30" id="30"/>
          <p:cNvSpPr txBox="true"/>
          <p:nvPr/>
        </p:nvSpPr>
        <p:spPr>
          <a:xfrm rot="0">
            <a:off x="2181355" y="5594560"/>
            <a:ext cx="3532728"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Schema linh hoạt</a:t>
            </a:r>
          </a:p>
        </p:txBody>
      </p:sp>
      <p:grpSp>
        <p:nvGrpSpPr>
          <p:cNvPr name="Group 31" id="31"/>
          <p:cNvGrpSpPr/>
          <p:nvPr/>
        </p:nvGrpSpPr>
        <p:grpSpPr>
          <a:xfrm rot="0">
            <a:off x="9144000" y="4485553"/>
            <a:ext cx="874849" cy="874849"/>
            <a:chOff x="0" y="0"/>
            <a:chExt cx="230413" cy="230413"/>
          </a:xfrm>
        </p:grpSpPr>
        <p:sp>
          <p:nvSpPr>
            <p:cNvPr name="Freeform 32" id="32"/>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33" id="33"/>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34" id="34"/>
          <p:cNvGrpSpPr/>
          <p:nvPr/>
        </p:nvGrpSpPr>
        <p:grpSpPr>
          <a:xfrm rot="0">
            <a:off x="9144000" y="5560153"/>
            <a:ext cx="874849" cy="874849"/>
            <a:chOff x="0" y="0"/>
            <a:chExt cx="230413" cy="230413"/>
          </a:xfrm>
        </p:grpSpPr>
        <p:sp>
          <p:nvSpPr>
            <p:cNvPr name="Freeform 35" id="35"/>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36" id="36"/>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37" id="37"/>
          <p:cNvGrpSpPr/>
          <p:nvPr/>
        </p:nvGrpSpPr>
        <p:grpSpPr>
          <a:xfrm rot="0">
            <a:off x="9144000" y="6634752"/>
            <a:ext cx="874849" cy="874849"/>
            <a:chOff x="0" y="0"/>
            <a:chExt cx="230413" cy="230413"/>
          </a:xfrm>
        </p:grpSpPr>
        <p:sp>
          <p:nvSpPr>
            <p:cNvPr name="Freeform 38" id="38"/>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39" id="39"/>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40" id="40"/>
          <p:cNvSpPr/>
          <p:nvPr/>
        </p:nvSpPr>
        <p:spPr>
          <a:xfrm flipH="false" flipV="false" rot="0">
            <a:off x="9435161" y="4704308"/>
            <a:ext cx="292528" cy="437338"/>
          </a:xfrm>
          <a:custGeom>
            <a:avLst/>
            <a:gdLst/>
            <a:ahLst/>
            <a:cxnLst/>
            <a:rect r="r" b="b" t="t" l="l"/>
            <a:pathLst>
              <a:path h="437338" w="292528">
                <a:moveTo>
                  <a:pt x="0" y="0"/>
                </a:moveTo>
                <a:lnTo>
                  <a:pt x="292528" y="0"/>
                </a:lnTo>
                <a:lnTo>
                  <a:pt x="292528" y="437339"/>
                </a:lnTo>
                <a:lnTo>
                  <a:pt x="0" y="4373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false" flipV="false" rot="0">
            <a:off x="9435161" y="5778908"/>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2" id="42"/>
          <p:cNvSpPr/>
          <p:nvPr/>
        </p:nvSpPr>
        <p:spPr>
          <a:xfrm flipH="false" flipV="false" rot="0">
            <a:off x="9435161" y="6853508"/>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3" id="43"/>
          <p:cNvSpPr txBox="true"/>
          <p:nvPr/>
        </p:nvSpPr>
        <p:spPr>
          <a:xfrm rot="0">
            <a:off x="10390324" y="2551255"/>
            <a:ext cx="6515104"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Hạn chế về giao dịch (Transactions)</a:t>
            </a:r>
          </a:p>
        </p:txBody>
      </p:sp>
      <p:sp>
        <p:nvSpPr>
          <p:cNvPr name="TextBox 44" id="44"/>
          <p:cNvSpPr txBox="true"/>
          <p:nvPr/>
        </p:nvSpPr>
        <p:spPr>
          <a:xfrm rot="0">
            <a:off x="10357731" y="3680699"/>
            <a:ext cx="6311932"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Tính nhất quán dữ liệu chưa mạnh</a:t>
            </a:r>
          </a:p>
        </p:txBody>
      </p:sp>
      <p:grpSp>
        <p:nvGrpSpPr>
          <p:cNvPr name="Group 45" id="45"/>
          <p:cNvGrpSpPr/>
          <p:nvPr/>
        </p:nvGrpSpPr>
        <p:grpSpPr>
          <a:xfrm rot="0">
            <a:off x="9144000" y="7709627"/>
            <a:ext cx="886432" cy="1975260"/>
            <a:chOff x="0" y="0"/>
            <a:chExt cx="1181910" cy="2633680"/>
          </a:xfrm>
        </p:grpSpPr>
        <p:grpSp>
          <p:nvGrpSpPr>
            <p:cNvPr name="Group 46" id="46"/>
            <p:cNvGrpSpPr/>
            <p:nvPr/>
          </p:nvGrpSpPr>
          <p:grpSpPr>
            <a:xfrm rot="0">
              <a:off x="0" y="0"/>
              <a:ext cx="1181910" cy="1181910"/>
              <a:chOff x="0" y="0"/>
              <a:chExt cx="230413" cy="230413"/>
            </a:xfrm>
          </p:grpSpPr>
          <p:sp>
            <p:nvSpPr>
              <p:cNvPr name="Freeform 47" id="47"/>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48" id="48"/>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49" id="49"/>
            <p:cNvGrpSpPr/>
            <p:nvPr/>
          </p:nvGrpSpPr>
          <p:grpSpPr>
            <a:xfrm rot="0">
              <a:off x="0" y="1451770"/>
              <a:ext cx="1181910" cy="1181910"/>
              <a:chOff x="0" y="0"/>
              <a:chExt cx="230413" cy="230413"/>
            </a:xfrm>
          </p:grpSpPr>
          <p:sp>
            <p:nvSpPr>
              <p:cNvPr name="Freeform 50" id="50"/>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51" id="51"/>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52" id="52"/>
            <p:cNvSpPr/>
            <p:nvPr/>
          </p:nvSpPr>
          <p:spPr>
            <a:xfrm flipH="false" flipV="false" rot="0">
              <a:off x="393354" y="295536"/>
              <a:ext cx="395201" cy="590838"/>
            </a:xfrm>
            <a:custGeom>
              <a:avLst/>
              <a:gdLst/>
              <a:ahLst/>
              <a:cxnLst/>
              <a:rect r="r" b="b" t="t" l="l"/>
              <a:pathLst>
                <a:path h="590838" w="395201">
                  <a:moveTo>
                    <a:pt x="0" y="0"/>
                  </a:moveTo>
                  <a:lnTo>
                    <a:pt x="395201" y="0"/>
                  </a:lnTo>
                  <a:lnTo>
                    <a:pt x="395201" y="590838"/>
                  </a:lnTo>
                  <a:lnTo>
                    <a:pt x="0" y="590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3" id="53"/>
            <p:cNvSpPr/>
            <p:nvPr/>
          </p:nvSpPr>
          <p:spPr>
            <a:xfrm flipH="false" flipV="false" rot="0">
              <a:off x="393354" y="1747306"/>
              <a:ext cx="395201" cy="590838"/>
            </a:xfrm>
            <a:custGeom>
              <a:avLst/>
              <a:gdLst/>
              <a:ahLst/>
              <a:cxnLst/>
              <a:rect r="r" b="b" t="t" l="l"/>
              <a:pathLst>
                <a:path h="590838" w="395201">
                  <a:moveTo>
                    <a:pt x="0" y="0"/>
                  </a:moveTo>
                  <a:lnTo>
                    <a:pt x="395201" y="0"/>
                  </a:lnTo>
                  <a:lnTo>
                    <a:pt x="395201" y="590838"/>
                  </a:lnTo>
                  <a:lnTo>
                    <a:pt x="0" y="590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4" id="54"/>
          <p:cNvSpPr txBox="true"/>
          <p:nvPr/>
        </p:nvSpPr>
        <p:spPr>
          <a:xfrm rot="0">
            <a:off x="10357731" y="5798554"/>
            <a:ext cx="4647455"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Sử dụng nhiều bộ nhớ (RAM)</a:t>
            </a:r>
          </a:p>
        </p:txBody>
      </p:sp>
      <p:sp>
        <p:nvSpPr>
          <p:cNvPr name="TextBox 55" id="55"/>
          <p:cNvSpPr txBox="true"/>
          <p:nvPr/>
        </p:nvSpPr>
        <p:spPr>
          <a:xfrm rot="0">
            <a:off x="10336136" y="6834444"/>
            <a:ext cx="4669049"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Tốn dung lượng lưu trữ</a:t>
            </a:r>
          </a:p>
        </p:txBody>
      </p:sp>
      <p:sp>
        <p:nvSpPr>
          <p:cNvPr name="TextBox 56" id="56"/>
          <p:cNvSpPr txBox="true"/>
          <p:nvPr/>
        </p:nvSpPr>
        <p:spPr>
          <a:xfrm rot="0">
            <a:off x="10390324" y="4688028"/>
            <a:ext cx="5273688" cy="422273"/>
          </a:xfrm>
          <a:prstGeom prst="rect">
            <a:avLst/>
          </a:prstGeom>
        </p:spPr>
        <p:txBody>
          <a:bodyPr anchor="t" rtlCol="false" tIns="0" lIns="0" bIns="0" rIns="0">
            <a:spAutoFit/>
          </a:bodyPr>
          <a:lstStyle/>
          <a:p>
            <a:pPr algn="l">
              <a:lnSpc>
                <a:spcPts val="3500"/>
              </a:lnSpc>
            </a:pPr>
            <a:r>
              <a:rPr lang="en-US" sz="2500">
                <a:solidFill>
                  <a:srgbClr val="3A3737"/>
                </a:solidFill>
                <a:latin typeface="Montserrat"/>
                <a:ea typeface="Montserrat"/>
                <a:cs typeface="Montserrat"/>
                <a:sym typeface="Montserrat"/>
              </a:rPr>
              <a:t>Không hỗ trợ JOIN như SQL</a:t>
            </a:r>
          </a:p>
        </p:txBody>
      </p:sp>
      <p:sp>
        <p:nvSpPr>
          <p:cNvPr name="TextBox 57" id="57"/>
          <p:cNvSpPr txBox="true"/>
          <p:nvPr/>
        </p:nvSpPr>
        <p:spPr>
          <a:xfrm rot="0">
            <a:off x="10390324" y="7907653"/>
            <a:ext cx="3141226" cy="422273"/>
          </a:xfrm>
          <a:prstGeom prst="rect">
            <a:avLst/>
          </a:prstGeom>
        </p:spPr>
        <p:txBody>
          <a:bodyPr anchor="t" rtlCol="false" tIns="0" lIns="0" bIns="0" rIns="0">
            <a:spAutoFit/>
          </a:bodyPr>
          <a:lstStyle/>
          <a:p>
            <a:pPr algn="ctr">
              <a:lnSpc>
                <a:spcPts val="3500"/>
              </a:lnSpc>
              <a:spcBef>
                <a:spcPct val="0"/>
              </a:spcBef>
            </a:pPr>
            <a:r>
              <a:rPr lang="en-US" sz="2500">
                <a:solidFill>
                  <a:srgbClr val="3A3737"/>
                </a:solidFill>
                <a:latin typeface="Montserrat"/>
                <a:ea typeface="Montserrat"/>
                <a:cs typeface="Montserrat"/>
                <a:sym typeface="Montserrat"/>
              </a:rPr>
              <a:t>Hạn chế về chỉ mục</a:t>
            </a:r>
          </a:p>
        </p:txBody>
      </p:sp>
      <p:sp>
        <p:nvSpPr>
          <p:cNvPr name="TextBox 58" id="58"/>
          <p:cNvSpPr txBox="true"/>
          <p:nvPr/>
        </p:nvSpPr>
        <p:spPr>
          <a:xfrm rot="0">
            <a:off x="10390324" y="9034776"/>
            <a:ext cx="2800945" cy="422273"/>
          </a:xfrm>
          <a:prstGeom prst="rect">
            <a:avLst/>
          </a:prstGeom>
        </p:spPr>
        <p:txBody>
          <a:bodyPr anchor="t" rtlCol="false" tIns="0" lIns="0" bIns="0" rIns="0">
            <a:spAutoFit/>
          </a:bodyPr>
          <a:lstStyle/>
          <a:p>
            <a:pPr algn="ctr">
              <a:lnSpc>
                <a:spcPts val="3500"/>
              </a:lnSpc>
              <a:spcBef>
                <a:spcPct val="0"/>
              </a:spcBef>
            </a:pPr>
            <a:r>
              <a:rPr lang="en-US" sz="2500">
                <a:solidFill>
                  <a:srgbClr val="3A3737"/>
                </a:solidFill>
                <a:latin typeface="Montserrat"/>
                <a:ea typeface="Montserrat"/>
                <a:cs typeface="Montserrat"/>
                <a:sym typeface="Montserrat"/>
              </a:rPr>
              <a:t> Chi phí triển khai</a:t>
            </a:r>
          </a:p>
        </p:txBody>
      </p:sp>
      <p:sp>
        <p:nvSpPr>
          <p:cNvPr name="TextBox 59" id="59"/>
          <p:cNvSpPr txBox="true"/>
          <p:nvPr/>
        </p:nvSpPr>
        <p:spPr>
          <a:xfrm rot="0">
            <a:off x="10859675" y="1149120"/>
            <a:ext cx="7591205" cy="739775"/>
          </a:xfrm>
          <a:prstGeom prst="rect">
            <a:avLst/>
          </a:prstGeom>
        </p:spPr>
        <p:txBody>
          <a:bodyPr anchor="t" rtlCol="false" tIns="0" lIns="0" bIns="0" rIns="0">
            <a:spAutoFit/>
          </a:bodyPr>
          <a:lstStyle/>
          <a:p>
            <a:pPr algn="l" marL="0" indent="0" lvl="0">
              <a:lnSpc>
                <a:spcPts val="5800"/>
              </a:lnSpc>
              <a:spcBef>
                <a:spcPct val="0"/>
              </a:spcBef>
            </a:pPr>
            <a:r>
              <a:rPr lang="en-US" b="true" sz="5000">
                <a:solidFill>
                  <a:srgbClr val="3A3737"/>
                </a:solidFill>
                <a:latin typeface="Montserrat Bold"/>
                <a:ea typeface="Montserrat Bold"/>
                <a:cs typeface="Montserrat Bold"/>
                <a:sym typeface="Montserrat Bold"/>
              </a:rPr>
              <a:t>NHƯỢC ĐIỂM</a:t>
            </a:r>
          </a:p>
        </p:txBody>
      </p:sp>
      <p:grpSp>
        <p:nvGrpSpPr>
          <p:cNvPr name="Group 60" id="60"/>
          <p:cNvGrpSpPr/>
          <p:nvPr/>
        </p:nvGrpSpPr>
        <p:grpSpPr>
          <a:xfrm rot="0">
            <a:off x="9144000" y="2348779"/>
            <a:ext cx="874849" cy="874849"/>
            <a:chOff x="0" y="0"/>
            <a:chExt cx="230413" cy="230413"/>
          </a:xfrm>
        </p:grpSpPr>
        <p:sp>
          <p:nvSpPr>
            <p:cNvPr name="Freeform 61" id="61"/>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62" id="62"/>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63" id="63"/>
          <p:cNvGrpSpPr/>
          <p:nvPr/>
        </p:nvGrpSpPr>
        <p:grpSpPr>
          <a:xfrm rot="0">
            <a:off x="9144000" y="3423379"/>
            <a:ext cx="874849" cy="874849"/>
            <a:chOff x="0" y="0"/>
            <a:chExt cx="230413" cy="230413"/>
          </a:xfrm>
        </p:grpSpPr>
        <p:sp>
          <p:nvSpPr>
            <p:cNvPr name="Freeform 64" id="64"/>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318575"/>
            </a:solidFill>
          </p:spPr>
        </p:sp>
        <p:sp>
          <p:nvSpPr>
            <p:cNvPr name="TextBox 65" id="65"/>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66" id="66"/>
          <p:cNvSpPr/>
          <p:nvPr/>
        </p:nvSpPr>
        <p:spPr>
          <a:xfrm flipH="false" flipV="false" rot="0">
            <a:off x="9435161" y="2567535"/>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7" id="67"/>
          <p:cNvSpPr/>
          <p:nvPr/>
        </p:nvSpPr>
        <p:spPr>
          <a:xfrm flipH="false" flipV="false" rot="0">
            <a:off x="9435161" y="3642135"/>
            <a:ext cx="292528" cy="437338"/>
          </a:xfrm>
          <a:custGeom>
            <a:avLst/>
            <a:gdLst/>
            <a:ahLst/>
            <a:cxnLst/>
            <a:rect r="r" b="b" t="t" l="l"/>
            <a:pathLst>
              <a:path h="437338" w="292528">
                <a:moveTo>
                  <a:pt x="0" y="0"/>
                </a:moveTo>
                <a:lnTo>
                  <a:pt x="292528" y="0"/>
                </a:lnTo>
                <a:lnTo>
                  <a:pt x="292528"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542813" y="766996"/>
            <a:ext cx="1755330" cy="261704"/>
          </a:xfrm>
          <a:custGeom>
            <a:avLst/>
            <a:gdLst/>
            <a:ahLst/>
            <a:cxnLst/>
            <a:rect r="r" b="b" t="t" l="l"/>
            <a:pathLst>
              <a:path h="261704" w="1755330">
                <a:moveTo>
                  <a:pt x="0" y="0"/>
                </a:moveTo>
                <a:lnTo>
                  <a:pt x="1755331" y="0"/>
                </a:lnTo>
                <a:lnTo>
                  <a:pt x="1755331" y="261704"/>
                </a:lnTo>
                <a:lnTo>
                  <a:pt x="0" y="261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36999" y="1330960"/>
            <a:ext cx="14448513" cy="6537952"/>
          </a:xfrm>
          <a:custGeom>
            <a:avLst/>
            <a:gdLst/>
            <a:ahLst/>
            <a:cxnLst/>
            <a:rect r="r" b="b" t="t" l="l"/>
            <a:pathLst>
              <a:path h="6537952" w="14448513">
                <a:moveTo>
                  <a:pt x="0" y="0"/>
                </a:moveTo>
                <a:lnTo>
                  <a:pt x="14448513" y="0"/>
                </a:lnTo>
                <a:lnTo>
                  <a:pt x="14448513" y="6537952"/>
                </a:lnTo>
                <a:lnTo>
                  <a:pt x="0" y="6537952"/>
                </a:lnTo>
                <a:lnTo>
                  <a:pt x="0" y="0"/>
                </a:lnTo>
                <a:close/>
              </a:path>
            </a:pathLst>
          </a:custGeom>
          <a:blipFill>
            <a:blip r:embed="rId4"/>
            <a:stretch>
              <a:fillRect l="0" t="0" r="0" b="0"/>
            </a:stretch>
          </a:blipFill>
        </p:spPr>
      </p:sp>
      <p:sp>
        <p:nvSpPr>
          <p:cNvPr name="TextBox 10" id="10"/>
          <p:cNvSpPr txBox="true"/>
          <p:nvPr/>
        </p:nvSpPr>
        <p:spPr>
          <a:xfrm rot="5400000">
            <a:off x="11749730" y="1865088"/>
            <a:ext cx="10940614" cy="1775460"/>
          </a:xfrm>
          <a:prstGeom prst="rect">
            <a:avLst/>
          </a:prstGeom>
        </p:spPr>
        <p:txBody>
          <a:bodyPr anchor="t" rtlCol="false" tIns="0" lIns="0" bIns="0" rIns="0">
            <a:spAutoFit/>
          </a:bodyPr>
          <a:lstStyle/>
          <a:p>
            <a:pPr algn="r" marL="0" indent="0" lvl="0">
              <a:lnSpc>
                <a:spcPts val="13919"/>
              </a:lnSpc>
              <a:spcBef>
                <a:spcPct val="0"/>
              </a:spcBef>
            </a:pPr>
            <a:r>
              <a:rPr lang="en-US" b="true" sz="12000">
                <a:solidFill>
                  <a:srgbClr val="0C3635"/>
                </a:solidFill>
                <a:latin typeface="Montserrat Ultra-Bold"/>
                <a:ea typeface="Montserrat Ultra-Bold"/>
                <a:cs typeface="Montserrat Ultra-Bold"/>
                <a:sym typeface="Montserrat Ultra-Bold"/>
              </a:rPr>
              <a:t>CÀI ĐẶT</a:t>
            </a:r>
          </a:p>
        </p:txBody>
      </p:sp>
      <p:sp>
        <p:nvSpPr>
          <p:cNvPr name="TextBox 11" id="11"/>
          <p:cNvSpPr txBox="true"/>
          <p:nvPr/>
        </p:nvSpPr>
        <p:spPr>
          <a:xfrm rot="0">
            <a:off x="1028700" y="8401347"/>
            <a:ext cx="14356812" cy="1047750"/>
          </a:xfrm>
          <a:prstGeom prst="rect">
            <a:avLst/>
          </a:prstGeom>
        </p:spPr>
        <p:txBody>
          <a:bodyPr anchor="t" rtlCol="false" tIns="0" lIns="0" bIns="0" rIns="0">
            <a:spAutoFit/>
          </a:bodyPr>
          <a:lstStyle/>
          <a:p>
            <a:pPr algn="l">
              <a:lnSpc>
                <a:spcPts val="4200"/>
              </a:lnSpc>
            </a:pPr>
            <a:r>
              <a:rPr lang="en-US" sz="3000" b="true">
                <a:solidFill>
                  <a:srgbClr val="322A2A"/>
                </a:solidFill>
                <a:latin typeface="Montserrat Medium"/>
                <a:ea typeface="Montserrat Medium"/>
                <a:cs typeface="Montserrat Medium"/>
                <a:sym typeface="Montserrat Medium"/>
              </a:rPr>
              <a:t>Download MongoDB Community Server về máy theo đường link: https://www.mongodb.com/try/download/community.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542813" y="766996"/>
            <a:ext cx="1755330" cy="261704"/>
          </a:xfrm>
          <a:custGeom>
            <a:avLst/>
            <a:gdLst/>
            <a:ahLst/>
            <a:cxnLst/>
            <a:rect r="r" b="b" t="t" l="l"/>
            <a:pathLst>
              <a:path h="261704" w="1755330">
                <a:moveTo>
                  <a:pt x="0" y="0"/>
                </a:moveTo>
                <a:lnTo>
                  <a:pt x="1755331" y="0"/>
                </a:lnTo>
                <a:lnTo>
                  <a:pt x="1755331" y="261704"/>
                </a:lnTo>
                <a:lnTo>
                  <a:pt x="0" y="261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04029" y="1480899"/>
            <a:ext cx="13116378" cy="6525398"/>
          </a:xfrm>
          <a:custGeom>
            <a:avLst/>
            <a:gdLst/>
            <a:ahLst/>
            <a:cxnLst/>
            <a:rect r="r" b="b" t="t" l="l"/>
            <a:pathLst>
              <a:path h="6525398" w="13116378">
                <a:moveTo>
                  <a:pt x="0" y="0"/>
                </a:moveTo>
                <a:lnTo>
                  <a:pt x="13116378" y="0"/>
                </a:lnTo>
                <a:lnTo>
                  <a:pt x="13116378" y="6525399"/>
                </a:lnTo>
                <a:lnTo>
                  <a:pt x="0" y="6525399"/>
                </a:lnTo>
                <a:lnTo>
                  <a:pt x="0" y="0"/>
                </a:lnTo>
                <a:close/>
              </a:path>
            </a:pathLst>
          </a:custGeom>
          <a:blipFill>
            <a:blip r:embed="rId4"/>
            <a:stretch>
              <a:fillRect l="0" t="0" r="0" b="0"/>
            </a:stretch>
          </a:blipFill>
        </p:spPr>
      </p:sp>
      <p:sp>
        <p:nvSpPr>
          <p:cNvPr name="TextBox 10" id="10"/>
          <p:cNvSpPr txBox="true"/>
          <p:nvPr/>
        </p:nvSpPr>
        <p:spPr>
          <a:xfrm rot="5400000">
            <a:off x="11749730" y="1865088"/>
            <a:ext cx="10940614" cy="1775460"/>
          </a:xfrm>
          <a:prstGeom prst="rect">
            <a:avLst/>
          </a:prstGeom>
        </p:spPr>
        <p:txBody>
          <a:bodyPr anchor="t" rtlCol="false" tIns="0" lIns="0" bIns="0" rIns="0">
            <a:spAutoFit/>
          </a:bodyPr>
          <a:lstStyle/>
          <a:p>
            <a:pPr algn="r" marL="0" indent="0" lvl="0">
              <a:lnSpc>
                <a:spcPts val="13919"/>
              </a:lnSpc>
              <a:spcBef>
                <a:spcPct val="0"/>
              </a:spcBef>
            </a:pPr>
            <a:r>
              <a:rPr lang="en-US" b="true" sz="12000">
                <a:solidFill>
                  <a:srgbClr val="0C3635"/>
                </a:solidFill>
                <a:latin typeface="Montserrat Ultra-Bold"/>
                <a:ea typeface="Montserrat Ultra-Bold"/>
                <a:cs typeface="Montserrat Ultra-Bold"/>
                <a:sym typeface="Montserrat Ultra-Bold"/>
              </a:rPr>
              <a:t>CÀI ĐẶT</a:t>
            </a:r>
          </a:p>
        </p:txBody>
      </p:sp>
      <p:sp>
        <p:nvSpPr>
          <p:cNvPr name="TextBox 11" id="11"/>
          <p:cNvSpPr txBox="true"/>
          <p:nvPr/>
        </p:nvSpPr>
        <p:spPr>
          <a:xfrm rot="0">
            <a:off x="1028700" y="8401347"/>
            <a:ext cx="14356812" cy="514350"/>
          </a:xfrm>
          <a:prstGeom prst="rect">
            <a:avLst/>
          </a:prstGeom>
        </p:spPr>
        <p:txBody>
          <a:bodyPr anchor="t" rtlCol="false" tIns="0" lIns="0" bIns="0" rIns="0">
            <a:spAutoFit/>
          </a:bodyPr>
          <a:lstStyle/>
          <a:p>
            <a:pPr algn="l">
              <a:lnSpc>
                <a:spcPts val="4200"/>
              </a:lnSpc>
            </a:pPr>
            <a:r>
              <a:rPr lang="en-US" sz="3000" b="true">
                <a:solidFill>
                  <a:srgbClr val="322A2A"/>
                </a:solidFill>
                <a:latin typeface="Montserrat Medium"/>
                <a:ea typeface="Montserrat Medium"/>
                <a:cs typeface="Montserrat Medium"/>
                <a:sym typeface="Montserrat Medium"/>
              </a:rPr>
              <a:t>Chạy MongoDB Server (mongod)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542813" y="766996"/>
            <a:ext cx="1755330" cy="261704"/>
          </a:xfrm>
          <a:custGeom>
            <a:avLst/>
            <a:gdLst/>
            <a:ahLst/>
            <a:cxnLst/>
            <a:rect r="r" b="b" t="t" l="l"/>
            <a:pathLst>
              <a:path h="261704" w="1755330">
                <a:moveTo>
                  <a:pt x="0" y="0"/>
                </a:moveTo>
                <a:lnTo>
                  <a:pt x="1755331" y="0"/>
                </a:lnTo>
                <a:lnTo>
                  <a:pt x="1755331" y="261704"/>
                </a:lnTo>
                <a:lnTo>
                  <a:pt x="0" y="261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37595" y="1199021"/>
            <a:ext cx="14381626" cy="6813296"/>
          </a:xfrm>
          <a:custGeom>
            <a:avLst/>
            <a:gdLst/>
            <a:ahLst/>
            <a:cxnLst/>
            <a:rect r="r" b="b" t="t" l="l"/>
            <a:pathLst>
              <a:path h="6813296" w="14381626">
                <a:moveTo>
                  <a:pt x="0" y="0"/>
                </a:moveTo>
                <a:lnTo>
                  <a:pt x="14381626" y="0"/>
                </a:lnTo>
                <a:lnTo>
                  <a:pt x="14381626" y="6813296"/>
                </a:lnTo>
                <a:lnTo>
                  <a:pt x="0" y="6813296"/>
                </a:lnTo>
                <a:lnTo>
                  <a:pt x="0" y="0"/>
                </a:lnTo>
                <a:close/>
              </a:path>
            </a:pathLst>
          </a:custGeom>
          <a:blipFill>
            <a:blip r:embed="rId4"/>
            <a:stretch>
              <a:fillRect l="0" t="0" r="0" b="0"/>
            </a:stretch>
          </a:blipFill>
        </p:spPr>
      </p:sp>
      <p:sp>
        <p:nvSpPr>
          <p:cNvPr name="TextBox 10" id="10"/>
          <p:cNvSpPr txBox="true"/>
          <p:nvPr/>
        </p:nvSpPr>
        <p:spPr>
          <a:xfrm rot="5400000">
            <a:off x="11749730" y="1865088"/>
            <a:ext cx="10940614" cy="1775460"/>
          </a:xfrm>
          <a:prstGeom prst="rect">
            <a:avLst/>
          </a:prstGeom>
        </p:spPr>
        <p:txBody>
          <a:bodyPr anchor="t" rtlCol="false" tIns="0" lIns="0" bIns="0" rIns="0">
            <a:spAutoFit/>
          </a:bodyPr>
          <a:lstStyle/>
          <a:p>
            <a:pPr algn="r" marL="0" indent="0" lvl="0">
              <a:lnSpc>
                <a:spcPts val="13919"/>
              </a:lnSpc>
              <a:spcBef>
                <a:spcPct val="0"/>
              </a:spcBef>
            </a:pPr>
            <a:r>
              <a:rPr lang="en-US" b="true" sz="12000">
                <a:solidFill>
                  <a:srgbClr val="0C3635"/>
                </a:solidFill>
                <a:latin typeface="Montserrat Ultra-Bold"/>
                <a:ea typeface="Montserrat Ultra-Bold"/>
                <a:cs typeface="Montserrat Ultra-Bold"/>
                <a:sym typeface="Montserrat Ultra-Bold"/>
              </a:rPr>
              <a:t>CÀI ĐẶT</a:t>
            </a:r>
          </a:p>
        </p:txBody>
      </p:sp>
      <p:sp>
        <p:nvSpPr>
          <p:cNvPr name="TextBox 11" id="11"/>
          <p:cNvSpPr txBox="true"/>
          <p:nvPr/>
        </p:nvSpPr>
        <p:spPr>
          <a:xfrm rot="0">
            <a:off x="1028700" y="8401347"/>
            <a:ext cx="14356812" cy="1047750"/>
          </a:xfrm>
          <a:prstGeom prst="rect">
            <a:avLst/>
          </a:prstGeom>
        </p:spPr>
        <p:txBody>
          <a:bodyPr anchor="t" rtlCol="false" tIns="0" lIns="0" bIns="0" rIns="0">
            <a:spAutoFit/>
          </a:bodyPr>
          <a:lstStyle/>
          <a:p>
            <a:pPr algn="l">
              <a:lnSpc>
                <a:spcPts val="4200"/>
              </a:lnSpc>
            </a:pPr>
            <a:r>
              <a:rPr lang="en-US" sz="3000" b="true">
                <a:solidFill>
                  <a:srgbClr val="322A2A"/>
                </a:solidFill>
                <a:latin typeface="Montserrat Medium"/>
                <a:ea typeface="Montserrat Medium"/>
                <a:cs typeface="Montserrat Medium"/>
                <a:sym typeface="Montserrat Medium"/>
              </a:rPr>
              <a:t>Download MongoDB Shell về máy theo đường link: </a:t>
            </a:r>
            <a:r>
              <a:rPr lang="en-US" b="true" sz="3000" u="sng">
                <a:solidFill>
                  <a:srgbClr val="322A2A"/>
                </a:solidFill>
                <a:latin typeface="Montserrat Medium"/>
                <a:ea typeface="Montserrat Medium"/>
                <a:cs typeface="Montserrat Medium"/>
                <a:sym typeface="Montserrat Medium"/>
                <a:hlinkClick r:id="rId5" tooltip="https://www.mongodb.com/try/download/shell"/>
              </a:rPr>
              <a:t>https://www.mongodb.com/try/download/community.</a:t>
            </a:r>
            <a:r>
              <a:rPr lang="en-US" sz="3000" b="true">
                <a:solidFill>
                  <a:srgbClr val="322A2A"/>
                </a:solidFill>
                <a:latin typeface="Montserrat Medium"/>
                <a:ea typeface="Montserrat Medium"/>
                <a:cs typeface="Montserrat Medium"/>
                <a:sym typeface="Montserrat Medium"/>
              </a:rPr>
              <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542813" y="766996"/>
            <a:ext cx="1755330" cy="261704"/>
          </a:xfrm>
          <a:custGeom>
            <a:avLst/>
            <a:gdLst/>
            <a:ahLst/>
            <a:cxnLst/>
            <a:rect r="r" b="b" t="t" l="l"/>
            <a:pathLst>
              <a:path h="261704" w="1755330">
                <a:moveTo>
                  <a:pt x="0" y="0"/>
                </a:moveTo>
                <a:lnTo>
                  <a:pt x="1755331" y="0"/>
                </a:lnTo>
                <a:lnTo>
                  <a:pt x="1755331" y="261704"/>
                </a:lnTo>
                <a:lnTo>
                  <a:pt x="0" y="261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45015" y="1365887"/>
            <a:ext cx="13302900" cy="6984023"/>
          </a:xfrm>
          <a:custGeom>
            <a:avLst/>
            <a:gdLst/>
            <a:ahLst/>
            <a:cxnLst/>
            <a:rect r="r" b="b" t="t" l="l"/>
            <a:pathLst>
              <a:path h="6984023" w="13302900">
                <a:moveTo>
                  <a:pt x="0" y="0"/>
                </a:moveTo>
                <a:lnTo>
                  <a:pt x="13302900" y="0"/>
                </a:lnTo>
                <a:lnTo>
                  <a:pt x="13302900" y="6984023"/>
                </a:lnTo>
                <a:lnTo>
                  <a:pt x="0" y="6984023"/>
                </a:lnTo>
                <a:lnTo>
                  <a:pt x="0" y="0"/>
                </a:lnTo>
                <a:close/>
              </a:path>
            </a:pathLst>
          </a:custGeom>
          <a:blipFill>
            <a:blip r:embed="rId4"/>
            <a:stretch>
              <a:fillRect l="0" t="0" r="0" b="0"/>
            </a:stretch>
          </a:blipFill>
        </p:spPr>
      </p:sp>
      <p:sp>
        <p:nvSpPr>
          <p:cNvPr name="TextBox 10" id="10"/>
          <p:cNvSpPr txBox="true"/>
          <p:nvPr/>
        </p:nvSpPr>
        <p:spPr>
          <a:xfrm rot="5400000">
            <a:off x="10944876" y="2359795"/>
            <a:ext cx="13004488" cy="1174115"/>
          </a:xfrm>
          <a:prstGeom prst="rect">
            <a:avLst/>
          </a:prstGeom>
        </p:spPr>
        <p:txBody>
          <a:bodyPr anchor="t" rtlCol="false" tIns="0" lIns="0" bIns="0" rIns="0">
            <a:spAutoFit/>
          </a:bodyPr>
          <a:lstStyle/>
          <a:p>
            <a:pPr algn="r" marL="0" indent="0" lvl="0">
              <a:lnSpc>
                <a:spcPts val="9280"/>
              </a:lnSpc>
              <a:spcBef>
                <a:spcPct val="0"/>
              </a:spcBef>
            </a:pPr>
            <a:r>
              <a:rPr lang="en-US" b="true" sz="8000">
                <a:solidFill>
                  <a:srgbClr val="0C3635"/>
                </a:solidFill>
                <a:latin typeface="Montserrat Ultra-Bold"/>
                <a:ea typeface="Montserrat Ultra-Bold"/>
                <a:cs typeface="Montserrat Ultra-Bold"/>
                <a:sym typeface="Montserrat Ultra-Bold"/>
              </a:rPr>
              <a:t>TẠO DATABASE</a:t>
            </a:r>
          </a:p>
        </p:txBody>
      </p:sp>
      <p:sp>
        <p:nvSpPr>
          <p:cNvPr name="TextBox 11" id="11"/>
          <p:cNvSpPr txBox="true"/>
          <p:nvPr/>
        </p:nvSpPr>
        <p:spPr>
          <a:xfrm rot="0">
            <a:off x="818059" y="8629947"/>
            <a:ext cx="14356812" cy="1581150"/>
          </a:xfrm>
          <a:prstGeom prst="rect">
            <a:avLst/>
          </a:prstGeom>
        </p:spPr>
        <p:txBody>
          <a:bodyPr anchor="t" rtlCol="false" tIns="0" lIns="0" bIns="0" rIns="0">
            <a:spAutoFit/>
          </a:bodyPr>
          <a:lstStyle/>
          <a:p>
            <a:pPr algn="l">
              <a:lnSpc>
                <a:spcPts val="4200"/>
              </a:lnSpc>
            </a:pPr>
            <a:r>
              <a:rPr lang="en-US" sz="3000" b="true">
                <a:solidFill>
                  <a:srgbClr val="322A2A"/>
                </a:solidFill>
                <a:latin typeface="Montserrat Medium"/>
                <a:ea typeface="Montserrat Medium"/>
                <a:cs typeface="Montserrat Medium"/>
                <a:sym typeface="Montserrat Medium"/>
              </a:rPr>
              <a:t>Sau khi kết nối thành công vào projec</a:t>
            </a:r>
            <a:r>
              <a:rPr lang="en-US" sz="3000" u="none" b="true">
                <a:solidFill>
                  <a:srgbClr val="322A2A"/>
                </a:solidFill>
                <a:latin typeface="Montserrat Medium"/>
                <a:ea typeface="Montserrat Medium"/>
                <a:cs typeface="Montserrat Medium"/>
                <a:sym typeface="Montserrat Medium"/>
              </a:rPr>
              <a:t>t</a:t>
            </a:r>
            <a:r>
              <a:rPr lang="en-US" sz="3000" b="true">
                <a:solidFill>
                  <a:srgbClr val="322A2A"/>
                </a:solidFill>
                <a:latin typeface="Montserrat Medium"/>
                <a:ea typeface="Montserrat Medium"/>
                <a:cs typeface="Montserrat Medium"/>
                <a:sym typeface="Montserrat Medium"/>
              </a:rPr>
              <a:t>, </a:t>
            </a:r>
            <a:r>
              <a:rPr lang="en-US" sz="3000" u="none" b="true">
                <a:solidFill>
                  <a:srgbClr val="322A2A"/>
                </a:solidFill>
                <a:latin typeface="Montserrat Medium"/>
                <a:ea typeface="Montserrat Medium"/>
                <a:cs typeface="Montserrat Medium"/>
                <a:sym typeface="Montserrat Medium"/>
              </a:rPr>
              <a:t>t</a:t>
            </a:r>
            <a:r>
              <a:rPr lang="en-US" sz="3000" b="true">
                <a:solidFill>
                  <a:srgbClr val="322A2A"/>
                </a:solidFill>
                <a:latin typeface="Montserrat Medium"/>
                <a:ea typeface="Montserrat Medium"/>
                <a:cs typeface="Montserrat Medium"/>
                <a:sym typeface="Montserrat Medium"/>
              </a:rPr>
              <a:t>a </a:t>
            </a:r>
            <a:r>
              <a:rPr lang="en-US" sz="3000" u="none" b="true">
                <a:solidFill>
                  <a:srgbClr val="322A2A"/>
                </a:solidFill>
                <a:latin typeface="Montserrat Medium"/>
                <a:ea typeface="Montserrat Medium"/>
                <a:cs typeface="Montserrat Medium"/>
                <a:sym typeface="Montserrat Medium"/>
              </a:rPr>
              <a:t>n</a:t>
            </a:r>
            <a:r>
              <a:rPr lang="en-US" sz="3000" b="true">
                <a:solidFill>
                  <a:srgbClr val="322A2A"/>
                </a:solidFill>
                <a:latin typeface="Montserrat Medium"/>
                <a:ea typeface="Montserrat Medium"/>
                <a:cs typeface="Montserrat Medium"/>
                <a:sym typeface="Montserrat Medium"/>
              </a:rPr>
              <a:t>hấn dấu “+” để tạ</a:t>
            </a:r>
            <a:r>
              <a:rPr lang="en-US" sz="3000" u="none" b="true">
                <a:solidFill>
                  <a:srgbClr val="322A2A"/>
                </a:solidFill>
                <a:latin typeface="Montserrat Medium"/>
                <a:ea typeface="Montserrat Medium"/>
                <a:cs typeface="Montserrat Medium"/>
                <a:sym typeface="Montserrat Medium"/>
              </a:rPr>
              <a:t>o</a:t>
            </a:r>
            <a:r>
              <a:rPr lang="en-US" sz="3000" b="true">
                <a:solidFill>
                  <a:srgbClr val="322A2A"/>
                </a:solidFill>
                <a:latin typeface="Montserrat Medium"/>
                <a:ea typeface="Montserrat Medium"/>
                <a:cs typeface="Montserrat Medium"/>
                <a:sym typeface="Montserrat Medium"/>
              </a:rPr>
              <a:t> </a:t>
            </a:r>
            <a:r>
              <a:rPr lang="en-US" sz="3000" u="none" b="true">
                <a:solidFill>
                  <a:srgbClr val="322A2A"/>
                </a:solidFill>
                <a:latin typeface="Montserrat Medium"/>
                <a:ea typeface="Montserrat Medium"/>
                <a:cs typeface="Montserrat Medium"/>
                <a:sym typeface="Montserrat Medium"/>
              </a:rPr>
              <a:t>d</a:t>
            </a:r>
            <a:r>
              <a:rPr lang="en-US" sz="3000" b="true">
                <a:solidFill>
                  <a:srgbClr val="322A2A"/>
                </a:solidFill>
                <a:latin typeface="Montserrat Medium"/>
                <a:ea typeface="Montserrat Medium"/>
                <a:cs typeface="Montserrat Medium"/>
                <a:sym typeface="Montserrat Medium"/>
              </a:rPr>
              <a:t>ata</a:t>
            </a:r>
            <a:r>
              <a:rPr lang="en-US" sz="3000" u="none" b="true">
                <a:solidFill>
                  <a:srgbClr val="322A2A"/>
                </a:solidFill>
                <a:latin typeface="Montserrat Medium"/>
                <a:ea typeface="Montserrat Medium"/>
                <a:cs typeface="Montserrat Medium"/>
                <a:sym typeface="Montserrat Medium"/>
              </a:rPr>
              <a:t>b</a:t>
            </a:r>
            <a:r>
              <a:rPr lang="en-US" sz="3000" b="true">
                <a:solidFill>
                  <a:srgbClr val="322A2A"/>
                </a:solidFill>
                <a:latin typeface="Montserrat Medium"/>
                <a:ea typeface="Montserrat Medium"/>
                <a:cs typeface="Montserrat Medium"/>
                <a:sym typeface="Montserrat Medium"/>
              </a:rPr>
              <a:t>ase, VS C</a:t>
            </a:r>
            <a:r>
              <a:rPr lang="en-US" sz="3000" u="none" b="true">
                <a:solidFill>
                  <a:srgbClr val="322A2A"/>
                </a:solidFill>
                <a:latin typeface="Montserrat Medium"/>
                <a:ea typeface="Montserrat Medium"/>
                <a:cs typeface="Montserrat Medium"/>
                <a:sym typeface="Montserrat Medium"/>
              </a:rPr>
              <a:t>od</a:t>
            </a:r>
            <a:r>
              <a:rPr lang="en-US" sz="3000" b="true">
                <a:solidFill>
                  <a:srgbClr val="322A2A"/>
                </a:solidFill>
                <a:latin typeface="Montserrat Medium"/>
                <a:ea typeface="Montserrat Medium"/>
                <a:cs typeface="Montserrat Medium"/>
                <a:sym typeface="Montserrat Medium"/>
              </a:rPr>
              <a:t>e sẽ hiể</a:t>
            </a:r>
            <a:r>
              <a:rPr lang="en-US" sz="3000" u="none" b="true">
                <a:solidFill>
                  <a:srgbClr val="322A2A"/>
                </a:solidFill>
                <a:latin typeface="Montserrat Medium"/>
                <a:ea typeface="Montserrat Medium"/>
                <a:cs typeface="Montserrat Medium"/>
                <a:sym typeface="Montserrat Medium"/>
              </a:rPr>
              <a:t>n</a:t>
            </a:r>
            <a:r>
              <a:rPr lang="en-US" sz="3000" b="true">
                <a:solidFill>
                  <a:srgbClr val="322A2A"/>
                </a:solidFill>
                <a:latin typeface="Montserrat Medium"/>
                <a:ea typeface="Montserrat Medium"/>
                <a:cs typeface="Montserrat Medium"/>
                <a:sym typeface="Montserrat Medium"/>
              </a:rPr>
              <a:t> thị gia</a:t>
            </a:r>
            <a:r>
              <a:rPr lang="en-US" sz="3000" u="none" b="true">
                <a:solidFill>
                  <a:srgbClr val="322A2A"/>
                </a:solidFill>
                <a:latin typeface="Montserrat Medium"/>
                <a:ea typeface="Montserrat Medium"/>
                <a:cs typeface="Montserrat Medium"/>
                <a:sym typeface="Montserrat Medium"/>
              </a:rPr>
              <a:t>o</a:t>
            </a:r>
            <a:r>
              <a:rPr lang="en-US" sz="3000" b="true">
                <a:solidFill>
                  <a:srgbClr val="322A2A"/>
                </a:solidFill>
                <a:latin typeface="Montserrat Medium"/>
                <a:ea typeface="Montserrat Medium"/>
                <a:cs typeface="Montserrat Medium"/>
                <a:sym typeface="Montserrat Medium"/>
              </a:rPr>
              <a:t> </a:t>
            </a:r>
            <a:r>
              <a:rPr lang="en-US" sz="3000" u="none" b="true">
                <a:solidFill>
                  <a:srgbClr val="322A2A"/>
                </a:solidFill>
                <a:latin typeface="Montserrat Medium"/>
                <a:ea typeface="Montserrat Medium"/>
                <a:cs typeface="Montserrat Medium"/>
                <a:sym typeface="Montserrat Medium"/>
              </a:rPr>
              <a:t>d</a:t>
            </a:r>
            <a:r>
              <a:rPr lang="en-US" sz="3000" b="true">
                <a:solidFill>
                  <a:srgbClr val="322A2A"/>
                </a:solidFill>
                <a:latin typeface="Montserrat Medium"/>
                <a:ea typeface="Montserrat Medium"/>
                <a:cs typeface="Montserrat Medium"/>
                <a:sym typeface="Montserrat Medium"/>
              </a:rPr>
              <a:t>iện như hì</a:t>
            </a:r>
            <a:r>
              <a:rPr lang="en-US" sz="3000" u="none" b="true">
                <a:solidFill>
                  <a:srgbClr val="322A2A"/>
                </a:solidFill>
                <a:latin typeface="Montserrat Medium"/>
                <a:ea typeface="Montserrat Medium"/>
                <a:cs typeface="Montserrat Medium"/>
                <a:sym typeface="Montserrat Medium"/>
              </a:rPr>
              <a:t>n</a:t>
            </a:r>
            <a:r>
              <a:rPr lang="en-US" sz="3000" b="true">
                <a:solidFill>
                  <a:srgbClr val="322A2A"/>
                </a:solidFill>
                <a:latin typeface="Montserrat Medium"/>
                <a:ea typeface="Montserrat Medium"/>
                <a:cs typeface="Montserrat Medium"/>
                <a:sym typeface="Montserrat Medium"/>
              </a:rPr>
              <a:t>h bên dướ</a:t>
            </a:r>
            <a:r>
              <a:rPr lang="en-US" sz="3000" u="none" b="true">
                <a:solidFill>
                  <a:srgbClr val="322A2A"/>
                </a:solidFill>
                <a:latin typeface="Montserrat Medium"/>
                <a:ea typeface="Montserrat Medium"/>
                <a:cs typeface="Montserrat Medium"/>
                <a:sym typeface="Montserrat Medium"/>
              </a:rPr>
              <a:t>i.</a:t>
            </a:r>
            <a:r>
              <a:rPr lang="en-US" sz="3000" b="true">
                <a:solidFill>
                  <a:srgbClr val="322A2A"/>
                </a:solidFill>
                <a:latin typeface="Montserrat Medium"/>
                <a:ea typeface="Montserrat Medium"/>
                <a:cs typeface="Montserrat Medium"/>
                <a:sym typeface="Montserrat Medium"/>
              </a:rPr>
              <a:t> </a:t>
            </a:r>
          </a:p>
          <a:p>
            <a:pPr algn="l">
              <a:lnSpc>
                <a:spcPts val="42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6884463"/>
            <a:ext cx="18288000" cy="3402537"/>
            <a:chOff x="0" y="0"/>
            <a:chExt cx="4816593" cy="896141"/>
          </a:xfrm>
        </p:grpSpPr>
        <p:sp>
          <p:nvSpPr>
            <p:cNvPr name="Freeform 3" id="3"/>
            <p:cNvSpPr/>
            <p:nvPr/>
          </p:nvSpPr>
          <p:spPr>
            <a:xfrm flipH="false" flipV="false" rot="0">
              <a:off x="0" y="0"/>
              <a:ext cx="4816592" cy="896141"/>
            </a:xfrm>
            <a:custGeom>
              <a:avLst/>
              <a:gdLst/>
              <a:ahLst/>
              <a:cxnLst/>
              <a:rect r="r" b="b" t="t" l="l"/>
              <a:pathLst>
                <a:path h="896141" w="4816592">
                  <a:moveTo>
                    <a:pt x="0" y="0"/>
                  </a:moveTo>
                  <a:lnTo>
                    <a:pt x="4816592" y="0"/>
                  </a:lnTo>
                  <a:lnTo>
                    <a:pt x="4816592" y="896141"/>
                  </a:lnTo>
                  <a:lnTo>
                    <a:pt x="0" y="896141"/>
                  </a:lnTo>
                  <a:close/>
                </a:path>
              </a:pathLst>
            </a:custGeom>
            <a:solidFill>
              <a:srgbClr val="D9DFCE"/>
            </a:solidFill>
          </p:spPr>
        </p:sp>
        <p:sp>
          <p:nvSpPr>
            <p:cNvPr name="TextBox 4" id="4"/>
            <p:cNvSpPr txBox="true"/>
            <p:nvPr/>
          </p:nvSpPr>
          <p:spPr>
            <a:xfrm>
              <a:off x="0" y="-57150"/>
              <a:ext cx="4816593" cy="953291"/>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6671786" y="8585732"/>
            <a:ext cx="4279513" cy="626038"/>
            <a:chOff x="0" y="0"/>
            <a:chExt cx="1127114" cy="164882"/>
          </a:xfrm>
        </p:grpSpPr>
        <p:sp>
          <p:nvSpPr>
            <p:cNvPr name="Freeform 6" id="6"/>
            <p:cNvSpPr/>
            <p:nvPr/>
          </p:nvSpPr>
          <p:spPr>
            <a:xfrm flipH="false" flipV="false" rot="0">
              <a:off x="0" y="0"/>
              <a:ext cx="1127115" cy="164882"/>
            </a:xfrm>
            <a:custGeom>
              <a:avLst/>
              <a:gdLst/>
              <a:ahLst/>
              <a:cxnLst/>
              <a:rect r="r" b="b" t="t" l="l"/>
              <a:pathLst>
                <a:path h="164882" w="1127115">
                  <a:moveTo>
                    <a:pt x="82441" y="0"/>
                  </a:moveTo>
                  <a:lnTo>
                    <a:pt x="1044673" y="0"/>
                  </a:lnTo>
                  <a:cubicBezTo>
                    <a:pt x="1066538" y="0"/>
                    <a:pt x="1087507" y="8686"/>
                    <a:pt x="1102968" y="24146"/>
                  </a:cubicBezTo>
                  <a:cubicBezTo>
                    <a:pt x="1118429" y="39607"/>
                    <a:pt x="1127115" y="60576"/>
                    <a:pt x="1127115" y="82441"/>
                  </a:cubicBezTo>
                  <a:lnTo>
                    <a:pt x="1127115" y="82441"/>
                  </a:lnTo>
                  <a:cubicBezTo>
                    <a:pt x="1127115" y="104306"/>
                    <a:pt x="1118429" y="125275"/>
                    <a:pt x="1102968" y="140736"/>
                  </a:cubicBezTo>
                  <a:cubicBezTo>
                    <a:pt x="1087507" y="156197"/>
                    <a:pt x="1066538" y="164882"/>
                    <a:pt x="1044673" y="164882"/>
                  </a:cubicBezTo>
                  <a:lnTo>
                    <a:pt x="82441" y="164882"/>
                  </a:lnTo>
                  <a:cubicBezTo>
                    <a:pt x="60576" y="164882"/>
                    <a:pt x="39607" y="156197"/>
                    <a:pt x="24146" y="140736"/>
                  </a:cubicBezTo>
                  <a:cubicBezTo>
                    <a:pt x="8686" y="125275"/>
                    <a:pt x="0" y="104306"/>
                    <a:pt x="0" y="82441"/>
                  </a:cubicBezTo>
                  <a:lnTo>
                    <a:pt x="0" y="82441"/>
                  </a:lnTo>
                  <a:cubicBezTo>
                    <a:pt x="0" y="60576"/>
                    <a:pt x="8686" y="39607"/>
                    <a:pt x="24146" y="24146"/>
                  </a:cubicBezTo>
                  <a:cubicBezTo>
                    <a:pt x="39607" y="8686"/>
                    <a:pt x="60576" y="0"/>
                    <a:pt x="82441" y="0"/>
                  </a:cubicBezTo>
                  <a:close/>
                </a:path>
              </a:pathLst>
            </a:custGeom>
            <a:solidFill>
              <a:srgbClr val="D9DFCE"/>
            </a:solidFill>
          </p:spPr>
        </p:sp>
        <p:sp>
          <p:nvSpPr>
            <p:cNvPr name="TextBox 7" id="7"/>
            <p:cNvSpPr txBox="true"/>
            <p:nvPr/>
          </p:nvSpPr>
          <p:spPr>
            <a:xfrm>
              <a:off x="0" y="-57150"/>
              <a:ext cx="1127114" cy="222032"/>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914557" y="8747153"/>
            <a:ext cx="292311" cy="292311"/>
          </a:xfrm>
          <a:custGeom>
            <a:avLst/>
            <a:gdLst/>
            <a:ahLst/>
            <a:cxnLst/>
            <a:rect r="r" b="b" t="t" l="l"/>
            <a:pathLst>
              <a:path h="292311" w="292311">
                <a:moveTo>
                  <a:pt x="0" y="0"/>
                </a:moveTo>
                <a:lnTo>
                  <a:pt x="292311" y="0"/>
                </a:lnTo>
                <a:lnTo>
                  <a:pt x="292311" y="292312"/>
                </a:lnTo>
                <a:lnTo>
                  <a:pt x="0" y="292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731353" y="3041685"/>
            <a:ext cx="14825293" cy="3186616"/>
          </a:xfrm>
          <a:prstGeom prst="rect">
            <a:avLst/>
          </a:prstGeom>
        </p:spPr>
        <p:txBody>
          <a:bodyPr anchor="t" rtlCol="false" tIns="0" lIns="0" bIns="0" rIns="0">
            <a:spAutoFit/>
          </a:bodyPr>
          <a:lstStyle/>
          <a:p>
            <a:pPr algn="ctr">
              <a:lnSpc>
                <a:spcPts val="22369"/>
              </a:lnSpc>
            </a:pPr>
            <a:r>
              <a:rPr lang="en-US" b="true" sz="15978">
                <a:solidFill>
                  <a:srgbClr val="318575"/>
                </a:solidFill>
                <a:latin typeface="Agrandir Narrow Heavy"/>
                <a:ea typeface="Agrandir Narrow Heavy"/>
                <a:cs typeface="Agrandir Narrow Heavy"/>
                <a:sym typeface="Agrandir Narrow Heavy"/>
              </a:rPr>
              <a:t>THANK YOU!</a:t>
            </a:r>
          </a:p>
        </p:txBody>
      </p:sp>
      <p:sp>
        <p:nvSpPr>
          <p:cNvPr name="TextBox 10" id="10"/>
          <p:cNvSpPr txBox="true"/>
          <p:nvPr/>
        </p:nvSpPr>
        <p:spPr>
          <a:xfrm rot="0">
            <a:off x="7375894" y="8720908"/>
            <a:ext cx="3153766" cy="306703"/>
          </a:xfrm>
          <a:prstGeom prst="rect">
            <a:avLst/>
          </a:prstGeom>
        </p:spPr>
        <p:txBody>
          <a:bodyPr anchor="t" rtlCol="false" tIns="0" lIns="0" bIns="0" rIns="0">
            <a:spAutoFit/>
          </a:bodyPr>
          <a:lstStyle/>
          <a:p>
            <a:pPr algn="l">
              <a:lnSpc>
                <a:spcPts val="2520"/>
              </a:lnSpc>
            </a:pPr>
            <a:r>
              <a:rPr lang="en-US" sz="1800" u="sng" b="true">
                <a:solidFill>
                  <a:srgbClr val="000000"/>
                </a:solidFill>
                <a:latin typeface="Aileron Heavy"/>
                <a:ea typeface="Aileron Heavy"/>
                <a:cs typeface="Aileron Heavy"/>
                <a:sym typeface="Aileron Heavy"/>
              </a:rPr>
              <a:t>https://www.mongodb.com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DAGpOKLCqYo</dc:identifier>
  <dcterms:modified xsi:type="dcterms:W3CDTF">2011-08-01T06:04:30Z</dcterms:modified>
  <cp:revision>1</cp:revision>
  <dc:title>mongodb</dc:title>
</cp:coreProperties>
</file>